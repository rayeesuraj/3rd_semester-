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8" r:id="rId3"/>
    <p:sldId id="262" r:id="rId4"/>
    <p:sldId id="269" r:id="rId5"/>
    <p:sldId id="256" r:id="rId6"/>
    <p:sldId id="264" r:id="rId7"/>
    <p:sldId id="272" r:id="rId8"/>
    <p:sldId id="270" r:id="rId9"/>
    <p:sldId id="259" r:id="rId10"/>
    <p:sldId id="271" r:id="rId11"/>
    <p:sldId id="260" r:id="rId12"/>
    <p:sldId id="258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9CE76-9252-42C2-9A79-BEC50987E2B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16EC-697A-4286-844C-9A4EC2AF6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8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1A16EC-697A-4286-844C-9A4EC2AF67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3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A793-B790-55AE-0748-8288EA8B7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E2F6B-2C4C-E7B0-76E2-6678AE99A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DD426-5086-6BC3-1428-19895403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1B0BE-B7B4-3081-C4E3-1B24F18F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552AC-2776-EAE2-C06B-B05EB8F5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4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D7FD-61CD-EFA2-44C2-5FC0F210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BEA9A-43B9-4CDC-D6FA-1657500F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383A-D727-F9D9-192E-9ED33726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75497-5FF6-483F-9ECB-9EEF34A9D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C1EC9-7061-0F0C-492A-5E1E8476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8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E323-C596-174D-0458-2B84EE6DD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DE22B-32E6-7D3D-275B-783D4F70B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A7340-6E73-9C58-286F-AA1C95AD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D8C6A-AD36-E45E-DDFF-B1CCA016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B4426-D45B-0B83-763F-B700BE20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1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017C-220C-CB19-3D67-9119CFCC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6C89A-9808-B0B2-7ED3-6A8B0B021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5E3D1-92EA-96F5-0543-4579A4A0C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3054B-9C53-4112-7437-D2BDACC5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BBABF-CC6A-5F7B-1FEB-585C207C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A05BA-D538-3E86-7C9B-5ED96E00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4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BC30-C85D-886E-BB07-5670E3EB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A67AB-568C-FC1F-80B6-725F6BFCE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22362-27C9-EFDB-63D8-373055C5A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442EB-E6E7-E93E-62C2-5FB1B1528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8DF8A-E190-6DA8-EBC2-348BC8D32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E889F-18CE-B86D-6EC7-B6578525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90D6B3-89C4-51DE-CEA0-B2089444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B2E9D-49D0-592C-B271-B5992144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6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3218-1B1B-BA7B-DA2D-2A3A7882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BFABC-C705-08FD-223B-CB670DBF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AD678-1E08-E94E-23C2-4774259E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F8394-937B-826F-D522-1D6601DF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3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01AE9D-338A-D6DB-7479-C163507B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201D7-0DE1-D5E1-6CE1-E06E244E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A41EB-BD83-87F8-6BDD-07EE780C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0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27E6-9A40-B6A6-06CD-4A142A62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21A05-B016-F318-9EB4-36E1FE2C8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704EA-6F21-CD50-078F-4438227A9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F2BC7-3B92-8C10-AD17-72BA3F1F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1F9A0-1B1B-3547-6C03-56A7B67A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B118A-B200-76B2-57F7-4F78D9C2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6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2422-40EF-40D9-8D48-1CDB8A7C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D68FD-8BB3-ABB2-54CE-AB05C42A9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96681-E6D6-6160-04CD-3D1D97F1B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61719-1C05-65DB-7536-FCFE3280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95728-EB9C-9EAF-2974-993647C0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BF4C7-EE96-6205-1138-E31C9A7A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5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55D4-9738-34D0-00B1-86A64DE7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5491D-CD51-568D-4596-FEA788512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1E0C1-756C-B88B-FA09-CE6FE6E6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F920-E559-AB1E-D5ED-D2DC807C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E6C1-FA8A-3244-5457-F5975BE6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8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CB2B2-B10C-9BC4-3D60-917F923C5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87D69-54E4-F320-05A4-C86527195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9D77F-457C-BC05-A031-A4DCBBF3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F4A37-5747-F62C-3CC3-67DD1EE2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601CF-69FB-5B95-8356-2C6ACFEC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4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B35F0-9FCC-2138-C5FD-7BC17E41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0F0A2-339F-22E3-EE40-7AF24DDE3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E19F8-C0AE-1E11-7BE1-ED2131D08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E6099-FA3B-4646-A02D-74D9568A9B5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DC16-1DC3-98F4-258F-CC7138FA3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658CD-44BD-0B67-19CC-FEC817C15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FB2B4-77F8-40CB-B8D4-CA85828EE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7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1B07-36E2-897D-C00F-5162CF9A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61" y="601428"/>
            <a:ext cx="6148227" cy="1325563"/>
          </a:xfrm>
        </p:spPr>
        <p:txBody>
          <a:bodyPr/>
          <a:lstStyle/>
          <a:p>
            <a:r>
              <a:rPr lang="en-US" b="1" i="1" dirty="0">
                <a:latin typeface="Calisto MT" panose="02040603050505030304" pitchFamily="18" charset="0"/>
              </a:rPr>
              <a:t>Group 1 : </a:t>
            </a:r>
            <a:r>
              <a:rPr lang="en-US" b="1" i="1" dirty="0" err="1">
                <a:solidFill>
                  <a:srgbClr val="FF0000"/>
                </a:solidFill>
                <a:latin typeface="Calisto MT" panose="02040603050505030304" pitchFamily="18" charset="0"/>
              </a:rPr>
              <a:t>Nerdy_Boy</a:t>
            </a:r>
            <a:r>
              <a:rPr lang="en-US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78BE98-302F-776E-2790-3AF9BD4EA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9" r="13150" b="9969"/>
          <a:stretch>
            <a:fillRect/>
          </a:stretch>
        </p:blipFill>
        <p:spPr>
          <a:xfrm>
            <a:off x="8138901" y="1504764"/>
            <a:ext cx="3391046" cy="3611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4AB758-4E0A-9F62-CE0F-F4ECD02EF29E}"/>
              </a:ext>
            </a:extLst>
          </p:cNvPr>
          <p:cNvSpPr txBox="1"/>
          <p:nvPr/>
        </p:nvSpPr>
        <p:spPr>
          <a:xfrm>
            <a:off x="8277973" y="5308879"/>
            <a:ext cx="3391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  </a:t>
            </a:r>
            <a:r>
              <a:rPr lang="en-US" sz="24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Nerdy Boy</a:t>
            </a:r>
            <a:r>
              <a:rPr lang="en-US" sz="28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 : Dexter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2FD53-BDA8-3CDA-0178-4119EF6BA134}"/>
              </a:ext>
            </a:extLst>
          </p:cNvPr>
          <p:cNvSpPr txBox="1"/>
          <p:nvPr/>
        </p:nvSpPr>
        <p:spPr>
          <a:xfrm>
            <a:off x="397229" y="1138835"/>
            <a:ext cx="64455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000" b="1" i="1" dirty="0">
                <a:solidFill>
                  <a:srgbClr val="FF0000"/>
                </a:solidFill>
              </a:rPr>
            </a:br>
            <a:br>
              <a:rPr lang="en-US" sz="2000" b="1" i="1" dirty="0">
                <a:solidFill>
                  <a:srgbClr val="FF0000"/>
                </a:solidFill>
              </a:rPr>
            </a:br>
            <a:r>
              <a:rPr lang="en-US" sz="2000" b="1" i="1" dirty="0">
                <a:solidFill>
                  <a:srgbClr val="FF0000"/>
                </a:solidFill>
              </a:rPr>
              <a:t>   </a:t>
            </a:r>
            <a:r>
              <a:rPr lang="en-US" sz="2000" b="1" i="1" dirty="0"/>
              <a:t>Title : </a:t>
            </a:r>
            <a:r>
              <a:rPr lang="en-US" sz="2000" b="1" i="1" dirty="0">
                <a:solidFill>
                  <a:srgbClr val="FF0000"/>
                </a:solidFill>
              </a:rPr>
              <a:t>Tic ― Tac ― Toe ( Vector Edition )</a:t>
            </a:r>
            <a:br>
              <a:rPr lang="en-US" sz="2000" b="1" i="1" dirty="0">
                <a:solidFill>
                  <a:srgbClr val="FF0000"/>
                </a:solidFill>
              </a:rPr>
            </a:br>
            <a:r>
              <a:rPr lang="en-US" sz="2000" b="1" i="1" dirty="0">
                <a:solidFill>
                  <a:srgbClr val="FF0000"/>
                </a:solidFill>
              </a:rPr>
              <a:t>  </a:t>
            </a:r>
            <a:br>
              <a:rPr lang="en-US" sz="2000" b="1" i="1" dirty="0">
                <a:solidFill>
                  <a:srgbClr val="FF0000"/>
                </a:solidFill>
              </a:rPr>
            </a:br>
            <a:r>
              <a:rPr lang="en-US" sz="2000" b="1" i="1" dirty="0">
                <a:solidFill>
                  <a:srgbClr val="FF0000"/>
                </a:solidFill>
              </a:rPr>
              <a:t>   </a:t>
            </a:r>
            <a:r>
              <a:rPr lang="en-US" sz="2000" b="1" i="1" dirty="0"/>
              <a:t>Members :  </a:t>
            </a:r>
            <a:r>
              <a:rPr lang="en-US" sz="2000" b="1" i="1" dirty="0">
                <a:solidFill>
                  <a:srgbClr val="FF0000"/>
                </a:solidFill>
              </a:rPr>
              <a:t>RAI  SURAJ  ( ID : 20244098 )</a:t>
            </a:r>
            <a:br>
              <a:rPr lang="en-US" sz="2000" b="1" i="1" dirty="0">
                <a:solidFill>
                  <a:srgbClr val="FF0000"/>
                </a:solidFill>
              </a:rPr>
            </a:br>
            <a:br>
              <a:rPr lang="en-US" sz="2000" b="1" i="1" dirty="0">
                <a:solidFill>
                  <a:srgbClr val="FF0000"/>
                </a:solidFill>
              </a:rPr>
            </a:br>
            <a:r>
              <a:rPr lang="en-US" sz="2000" b="1" i="1" dirty="0">
                <a:solidFill>
                  <a:srgbClr val="FF0000"/>
                </a:solidFill>
              </a:rPr>
              <a:t> 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Course  :  </a:t>
            </a:r>
            <a:r>
              <a:rPr lang="en-US" sz="2000" b="1" i="1" dirty="0">
                <a:solidFill>
                  <a:srgbClr val="FF0000"/>
                </a:solidFill>
              </a:rPr>
              <a:t>Object – Oriented  Programming ( C++)</a:t>
            </a:r>
            <a:br>
              <a:rPr lang="en-US" sz="2000" b="1" i="1" dirty="0">
                <a:solidFill>
                  <a:srgbClr val="FF0000"/>
                </a:solidFill>
              </a:rPr>
            </a:br>
            <a:r>
              <a:rPr lang="en-US" sz="2000" b="1" i="1" dirty="0">
                <a:solidFill>
                  <a:srgbClr val="FF0000"/>
                </a:solidFill>
              </a:rPr>
              <a:t> </a:t>
            </a:r>
            <a:br>
              <a:rPr lang="en-US" sz="2000" b="1" i="1" dirty="0">
                <a:solidFill>
                  <a:srgbClr val="FF0000"/>
                </a:solidFill>
              </a:rPr>
            </a:br>
            <a:r>
              <a:rPr lang="en-US" sz="2000" b="1" i="1" dirty="0">
                <a:solidFill>
                  <a:srgbClr val="FF0000"/>
                </a:solidFill>
              </a:rPr>
              <a:t> 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Professor :  </a:t>
            </a:r>
            <a:r>
              <a:rPr lang="en-US" sz="2000" b="1" i="1" dirty="0">
                <a:solidFill>
                  <a:srgbClr val="FF0000"/>
                </a:solidFill>
              </a:rPr>
              <a:t>Carol  Sonia  </a:t>
            </a:r>
            <a:br>
              <a:rPr lang="en-US" sz="2000" b="1" i="1" dirty="0">
                <a:solidFill>
                  <a:srgbClr val="FF0000"/>
                </a:solidFill>
              </a:rPr>
            </a:br>
            <a:endParaRPr lang="en-US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319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EEE8FB-1D6A-F81B-1BB5-8E99F14FD158}"/>
              </a:ext>
            </a:extLst>
          </p:cNvPr>
          <p:cNvSpPr txBox="1"/>
          <p:nvPr/>
        </p:nvSpPr>
        <p:spPr>
          <a:xfrm>
            <a:off x="7532523" y="4349254"/>
            <a:ext cx="4340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     Fig : Tic – Tac – Toe ( Grid )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4B5ACD-BD9A-BAA2-4D62-63195A04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511" y="1003657"/>
            <a:ext cx="3996880" cy="32513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62D72B-252A-D23C-A316-FA7F3B92C55B}"/>
              </a:ext>
            </a:extLst>
          </p:cNvPr>
          <p:cNvSpPr txBox="1"/>
          <p:nvPr/>
        </p:nvSpPr>
        <p:spPr>
          <a:xfrm>
            <a:off x="513552" y="844054"/>
            <a:ext cx="5650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Question : </a:t>
            </a:r>
            <a:br>
              <a:rPr lang="en-US" sz="2400" i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Who,</a:t>
            </a:r>
            <a:r>
              <a:rPr lang="en-US" sz="2400" i="1" dirty="0">
                <a:solidFill>
                  <a:schemeClr val="accent5">
                    <a:lumMod val="75000"/>
                  </a:schemeClr>
                </a:solidFill>
              </a:rPr>
              <a:t>  is  the  winner  here  and  </a:t>
            </a: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why</a:t>
            </a:r>
            <a:r>
              <a:rPr lang="en-US" sz="2400" i="1" dirty="0">
                <a:solidFill>
                  <a:schemeClr val="accent5">
                    <a:lumMod val="75000"/>
                  </a:schemeClr>
                </a:solidFill>
              </a:rPr>
              <a:t> ? 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59CBF4-B460-C3E2-B108-54A7D50D303E}"/>
              </a:ext>
            </a:extLst>
          </p:cNvPr>
          <p:cNvCxnSpPr>
            <a:cxnSpLocks/>
          </p:cNvCxnSpPr>
          <p:nvPr/>
        </p:nvCxnSpPr>
        <p:spPr>
          <a:xfrm flipV="1">
            <a:off x="7695344" y="1149104"/>
            <a:ext cx="3818209" cy="320865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34AB9F-E05E-6A60-5492-8613BBB77B8E}"/>
              </a:ext>
            </a:extLst>
          </p:cNvPr>
          <p:cNvCxnSpPr>
            <a:cxnSpLocks/>
          </p:cNvCxnSpPr>
          <p:nvPr/>
        </p:nvCxnSpPr>
        <p:spPr>
          <a:xfrm>
            <a:off x="7760120" y="952128"/>
            <a:ext cx="3746936" cy="32191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C2C288C-CD4D-4B71-5BF7-E9D1AA12ED37}"/>
              </a:ext>
            </a:extLst>
          </p:cNvPr>
          <p:cNvSpPr txBox="1"/>
          <p:nvPr/>
        </p:nvSpPr>
        <p:spPr>
          <a:xfrm>
            <a:off x="563211" y="2784157"/>
            <a:ext cx="5885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Ans: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Player ( O ) forms two St lines in the grid.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Meaning, any St lines will decide the winner.</a:t>
            </a:r>
          </a:p>
        </p:txBody>
      </p:sp>
    </p:spTree>
    <p:extLst>
      <p:ext uri="{BB962C8B-B14F-4D97-AF65-F5344CB8AC3E}">
        <p14:creationId xmlns:p14="http://schemas.microsoft.com/office/powerpoint/2010/main" val="416025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1D8F99C2-1827-9EF4-1C11-F61EDA67F64E}"/>
              </a:ext>
            </a:extLst>
          </p:cNvPr>
          <p:cNvSpPr txBox="1"/>
          <p:nvPr/>
        </p:nvSpPr>
        <p:spPr>
          <a:xfrm>
            <a:off x="102741" y="327917"/>
            <a:ext cx="7129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Visualizing, Square Grid Block into Points 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426964E-F479-C5FD-A6AD-84AEB9D52611}"/>
              </a:ext>
            </a:extLst>
          </p:cNvPr>
          <p:cNvSpPr txBox="1"/>
          <p:nvPr/>
        </p:nvSpPr>
        <p:spPr>
          <a:xfrm>
            <a:off x="90756" y="1066797"/>
            <a:ext cx="10769027" cy="1053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Take a square block of length </a:t>
            </a:r>
            <a:r>
              <a:rPr lang="en-US" sz="2000" b="1" i="1" dirty="0"/>
              <a:t>n. </a:t>
            </a:r>
            <a:r>
              <a:rPr lang="en-US" sz="2000" i="1" dirty="0"/>
              <a:t>Then,</a:t>
            </a:r>
            <a:br>
              <a:rPr lang="en-US" sz="2000" b="1" i="1" dirty="0"/>
            </a:br>
            <a:r>
              <a:rPr lang="en-US" sz="2000" b="1" i="1" dirty="0"/>
              <a:t> </a:t>
            </a:r>
            <a:r>
              <a:rPr lang="en-US" sz="2000" i="1" dirty="0"/>
              <a:t>Place the </a:t>
            </a:r>
            <a:r>
              <a:rPr lang="en-US" sz="2000" b="1" i="1" dirty="0"/>
              <a:t>N, </a:t>
            </a:r>
            <a:r>
              <a:rPr lang="en-US" sz="2000" i="1" dirty="0"/>
              <a:t>no of square forming a Square of </a:t>
            </a:r>
            <a:r>
              <a:rPr lang="en-US" sz="2000" b="1" i="1" dirty="0"/>
              <a:t>N *n.</a:t>
            </a:r>
            <a:br>
              <a:rPr lang="en-US" sz="2000" b="1" i="1" dirty="0"/>
            </a:br>
            <a:r>
              <a:rPr lang="en-US" sz="2000" i="1" dirty="0"/>
              <a:t>Keeping the </a:t>
            </a:r>
            <a:r>
              <a:rPr lang="en-US" sz="2000" b="1" i="1" dirty="0"/>
              <a:t>Grid Size Same, but decreases</a:t>
            </a:r>
            <a:r>
              <a:rPr lang="en-US" sz="2000" i="1" dirty="0"/>
              <a:t> the size of Sq blocks by </a:t>
            </a:r>
            <a:r>
              <a:rPr lang="en-US" sz="2000" b="1" i="1" dirty="0"/>
              <a:t>Half ½ , ¼ , 1/8, 1/16 </a:t>
            </a:r>
            <a:r>
              <a:rPr lang="en-US" sz="2000" i="1" dirty="0"/>
              <a:t>and so on.   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3538C101-97D2-573C-2D68-DFD599BC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6" t="4360" r="9150" b="3462"/>
          <a:stretch>
            <a:fillRect/>
          </a:stretch>
        </p:blipFill>
        <p:spPr>
          <a:xfrm>
            <a:off x="42549" y="2252354"/>
            <a:ext cx="2065384" cy="2483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E666B7D-8FE4-77E7-D9C8-C1E46AD8DA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2918" b="1566"/>
          <a:stretch>
            <a:fillRect/>
          </a:stretch>
        </p:blipFill>
        <p:spPr>
          <a:xfrm>
            <a:off x="2184918" y="2275892"/>
            <a:ext cx="2438400" cy="2446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873DB3B-31A0-F745-F49F-50D7E21B8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6" t="3698"/>
          <a:stretch>
            <a:fillRect/>
          </a:stretch>
        </p:blipFill>
        <p:spPr>
          <a:xfrm>
            <a:off x="4699722" y="2282242"/>
            <a:ext cx="2532323" cy="24406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F49A9162-34B0-54AA-F43F-EEF561C200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" t="3793" r="5341"/>
          <a:stretch>
            <a:fillRect/>
          </a:stretch>
        </p:blipFill>
        <p:spPr>
          <a:xfrm>
            <a:off x="7305630" y="2252354"/>
            <a:ext cx="2532324" cy="2473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8257F47-B3C7-2A75-2DDA-A2E43EFD0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9874" r="11931" b="4355"/>
          <a:stretch>
            <a:fillRect/>
          </a:stretch>
        </p:blipFill>
        <p:spPr>
          <a:xfrm>
            <a:off x="9933675" y="2252354"/>
            <a:ext cx="2117911" cy="2454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F7A3E3F3-FE04-199B-D452-75ADA221B36C}"/>
              </a:ext>
            </a:extLst>
          </p:cNvPr>
          <p:cNvSpPr txBox="1"/>
          <p:nvPr/>
        </p:nvSpPr>
        <p:spPr>
          <a:xfrm>
            <a:off x="2993455" y="4843069"/>
            <a:ext cx="11550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1st round 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6B5075-801E-9408-D6F7-AD028BDDA077}"/>
              </a:ext>
            </a:extLst>
          </p:cNvPr>
          <p:cNvSpPr txBox="1"/>
          <p:nvPr/>
        </p:nvSpPr>
        <p:spPr>
          <a:xfrm>
            <a:off x="5542549" y="4822209"/>
            <a:ext cx="13655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2nd round 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D6A505-68E3-9D6F-E2A2-63E7618CDD6D}"/>
              </a:ext>
            </a:extLst>
          </p:cNvPr>
          <p:cNvSpPr txBox="1"/>
          <p:nvPr/>
        </p:nvSpPr>
        <p:spPr>
          <a:xfrm>
            <a:off x="8255274" y="4849483"/>
            <a:ext cx="13655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3rd round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6B7194-5B62-8076-D856-D7B16EBDBC97}"/>
              </a:ext>
            </a:extLst>
          </p:cNvPr>
          <p:cNvSpPr txBox="1"/>
          <p:nvPr/>
        </p:nvSpPr>
        <p:spPr>
          <a:xfrm>
            <a:off x="10515609" y="4809375"/>
            <a:ext cx="13655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4th round 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BFAB0E-348B-395D-D893-3D76593958AA}"/>
              </a:ext>
            </a:extLst>
          </p:cNvPr>
          <p:cNvSpPr txBox="1"/>
          <p:nvPr/>
        </p:nvSpPr>
        <p:spPr>
          <a:xfrm>
            <a:off x="203209" y="5199616"/>
            <a:ext cx="118483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Here, </a:t>
            </a:r>
            <a:br>
              <a:rPr lang="en-US" sz="2000" b="1" i="1" dirty="0"/>
            </a:br>
            <a:r>
              <a:rPr lang="en-US" sz="2000" i="1" dirty="0"/>
              <a:t>After 4</a:t>
            </a:r>
            <a:r>
              <a:rPr lang="en-US" sz="2000" i="1" baseline="30000" dirty="0"/>
              <a:t>th</a:t>
            </a:r>
            <a:r>
              <a:rPr lang="en-US" sz="2000" i="1" dirty="0"/>
              <a:t>  round,  the  blocks  had  became  sufficiently  small ( 1/16</a:t>
            </a:r>
            <a:r>
              <a:rPr lang="en-US" sz="2000" i="1" baseline="30000" dirty="0"/>
              <a:t>th</a:t>
            </a:r>
            <a:r>
              <a:rPr lang="en-US" sz="2000" i="1" dirty="0"/>
              <a:t>)   to  consider them as Points in the Graph. </a:t>
            </a:r>
            <a:br>
              <a:rPr lang="en-US" sz="2000" i="1" dirty="0"/>
            </a:br>
            <a:r>
              <a:rPr lang="en-US" sz="2000" i="1" dirty="0"/>
              <a:t>And, able to pass the Vector through it..  </a:t>
            </a:r>
          </a:p>
        </p:txBody>
      </p:sp>
    </p:spTree>
    <p:extLst>
      <p:ext uri="{BB962C8B-B14F-4D97-AF65-F5344CB8AC3E}">
        <p14:creationId xmlns:p14="http://schemas.microsoft.com/office/powerpoint/2010/main" val="325468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6BDACF-23B0-74A3-09E3-DD58345F35FA}"/>
              </a:ext>
            </a:extLst>
          </p:cNvPr>
          <p:cNvSpPr txBox="1"/>
          <p:nvPr/>
        </p:nvSpPr>
        <p:spPr>
          <a:xfrm>
            <a:off x="3628062" y="-34104"/>
            <a:ext cx="4868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</a:rPr>
              <a:t>Project  Visualization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3A66A8-3969-084D-8840-0ED9EE5FF008}"/>
              </a:ext>
            </a:extLst>
          </p:cNvPr>
          <p:cNvSpPr txBox="1"/>
          <p:nvPr/>
        </p:nvSpPr>
        <p:spPr>
          <a:xfrm>
            <a:off x="308797" y="617401"/>
            <a:ext cx="95570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1)  Lines or Vectors Movement  in the Grid :</a:t>
            </a:r>
            <a:br>
              <a:rPr lang="en-US" sz="2000" b="1" i="1" dirty="0">
                <a:solidFill>
                  <a:srgbClr val="0070C0"/>
                </a:solidFill>
              </a:rPr>
            </a:br>
            <a:r>
              <a:rPr lang="en-US" sz="2000" b="1" i="1" dirty="0">
                <a:solidFill>
                  <a:srgbClr val="0070C0"/>
                </a:solidFill>
              </a:rPr>
              <a:t>   </a:t>
            </a:r>
            <a:br>
              <a:rPr lang="en-US" sz="2000" b="1" i="1" dirty="0">
                <a:solidFill>
                  <a:srgbClr val="0070C0"/>
                </a:solidFill>
              </a:rPr>
            </a:br>
            <a:r>
              <a:rPr lang="en-US" i="1" dirty="0"/>
              <a:t>There are two basic topic in math, when it comes to Graph, Points  and the St lines.</a:t>
            </a:r>
            <a:endParaRPr lang="en-US" sz="2000" i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5C37AA-D66D-7F17-210D-D2AE6A051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00" y="1771048"/>
            <a:ext cx="5574300" cy="4693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535AAA-A8DC-A81C-8447-506A677F3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302" y="1771048"/>
            <a:ext cx="5397498" cy="4649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80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344C5B-0E7C-4708-2910-B1383B001D32}"/>
              </a:ext>
            </a:extLst>
          </p:cNvPr>
          <p:cNvSpPr txBox="1"/>
          <p:nvPr/>
        </p:nvSpPr>
        <p:spPr>
          <a:xfrm>
            <a:off x="152353" y="1769533"/>
            <a:ext cx="8250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   </a:t>
            </a:r>
            <a:r>
              <a:rPr lang="en-US" sz="30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Introduction :</a:t>
            </a:r>
          </a:p>
          <a:p>
            <a:br>
              <a:rPr lang="en-US" i="1" dirty="0"/>
            </a:br>
            <a:r>
              <a:rPr lang="en-US" sz="1600" i="1" dirty="0">
                <a:latin typeface="Arial Narrow" panose="020B0606020202030204" pitchFamily="34" charset="0"/>
              </a:rPr>
              <a:t>•  A mathematically re-defined tic-tac-toe game designed for any desirable size.</a:t>
            </a:r>
            <a:br>
              <a:rPr lang="en-US" sz="1600" i="1" dirty="0">
                <a:latin typeface="Arial Narrow" panose="020B0606020202030204" pitchFamily="34" charset="0"/>
              </a:rPr>
            </a:br>
            <a:r>
              <a:rPr lang="en-US" sz="1600" i="1" dirty="0">
                <a:latin typeface="Arial Narrow" panose="020B0606020202030204" pitchFamily="34" charset="0"/>
              </a:rPr>
              <a:t>• Use 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Vector , Co-ordinate Geometry </a:t>
            </a:r>
            <a:r>
              <a:rPr lang="en-US" sz="1600" b="1" i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Eqs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sz="1600" i="1" dirty="0">
                <a:latin typeface="Arial Narrow" panose="020B0606020202030204" pitchFamily="34" charset="0"/>
              </a:rPr>
              <a:t>(like </a:t>
            </a:r>
            <a:r>
              <a:rPr lang="en-US" sz="1600" b="1" i="1" dirty="0" err="1">
                <a:solidFill>
                  <a:srgbClr val="FF0000"/>
                </a:solidFill>
                <a:latin typeface="Arial Narrow" panose="020B0606020202030204" pitchFamily="34" charset="0"/>
              </a:rPr>
              <a:t>Paramatrics</a:t>
            </a:r>
            <a:r>
              <a:rPr lang="en-US" sz="1600" i="1" dirty="0">
                <a:solidFill>
                  <a:srgbClr val="FF0000"/>
                </a:solidFill>
                <a:latin typeface="Arial Narrow" panose="020B0606020202030204" pitchFamily="34" charset="0"/>
              </a:rPr>
              <a:t> , 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Dot Product </a:t>
            </a:r>
            <a:r>
              <a:rPr lang="en-US" sz="1600" i="1" dirty="0">
                <a:latin typeface="Arial Narrow" panose="020B0606020202030204" pitchFamily="34" charset="0"/>
              </a:rPr>
              <a:t>)  to decide the winner normally.</a:t>
            </a:r>
            <a:br>
              <a:rPr lang="en-US" sz="1600" i="1" dirty="0">
                <a:latin typeface="Arial Narrow" panose="020B0606020202030204" pitchFamily="34" charset="0"/>
              </a:rPr>
            </a:br>
            <a:r>
              <a:rPr lang="en-US" sz="1600" i="1" dirty="0">
                <a:latin typeface="Arial Narrow" panose="020B0606020202030204" pitchFamily="34" charset="0"/>
              </a:rPr>
              <a:t>• </a:t>
            </a:r>
            <a:r>
              <a:rPr lang="en-US" sz="1600" b="1" i="1" dirty="0">
                <a:latin typeface="Arial Narrow" panose="020B0606020202030204" pitchFamily="34" charset="0"/>
              </a:rPr>
              <a:t>Playing Mode </a:t>
            </a:r>
            <a:r>
              <a:rPr lang="en-US" sz="1600" i="1" dirty="0">
                <a:latin typeface="Arial Narrow" panose="020B0606020202030204" pitchFamily="34" charset="0"/>
              </a:rPr>
              <a:t>: 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Normal</a:t>
            </a:r>
            <a:r>
              <a:rPr lang="en-US" sz="1600" i="1" dirty="0">
                <a:latin typeface="Arial Narrow" panose="020B0606020202030204" pitchFamily="34" charset="0"/>
              </a:rPr>
              <a:t> or 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Tie – Breaker</a:t>
            </a:r>
            <a:r>
              <a:rPr lang="en-US" sz="1600" i="1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sz="1600" i="1" dirty="0">
                <a:latin typeface="Arial Narrow" panose="020B0606020202030204" pitchFamily="34" charset="0"/>
              </a:rPr>
              <a:t>(One player will be mathematically declare as the winner) 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11EC7-0679-61A4-7BA5-D16716301FE2}"/>
              </a:ext>
            </a:extLst>
          </p:cNvPr>
          <p:cNvSpPr txBox="1"/>
          <p:nvPr/>
        </p:nvSpPr>
        <p:spPr>
          <a:xfrm>
            <a:off x="364067" y="304800"/>
            <a:ext cx="927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 		     </a:t>
            </a:r>
            <a:r>
              <a:rPr lang="en-US" sz="3200" b="1" i="1" dirty="0" err="1">
                <a:solidFill>
                  <a:srgbClr val="FF0000"/>
                </a:solidFill>
                <a:latin typeface="Calisto MT" panose="02040603050505030304" pitchFamily="18" charset="0"/>
              </a:rPr>
              <a:t>Tic_Tac_Toe</a:t>
            </a:r>
            <a:r>
              <a:rPr lang="en-US" sz="32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 : Vector  Edition</a:t>
            </a:r>
            <a:br>
              <a:rPr lang="en-US" sz="3200" b="1" i="1" dirty="0">
                <a:solidFill>
                  <a:srgbClr val="FF0000"/>
                </a:solidFill>
                <a:latin typeface="Calisto MT" panose="02040603050505030304" pitchFamily="18" charset="0"/>
              </a:rPr>
            </a:br>
            <a:r>
              <a:rPr lang="en-US" sz="32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                           “ </a:t>
            </a:r>
            <a:r>
              <a:rPr lang="en-US" sz="2100" b="1" i="1" dirty="0">
                <a:solidFill>
                  <a:schemeClr val="accent5">
                    <a:lumMod val="50000"/>
                  </a:schemeClr>
                </a:solidFill>
                <a:latin typeface="Calisto MT" panose="02040603050505030304" pitchFamily="18" charset="0"/>
              </a:rPr>
              <a:t>Why just learn things , Use it.. </a:t>
            </a:r>
            <a:r>
              <a:rPr lang="en-US" sz="32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”</a:t>
            </a:r>
            <a:endParaRPr lang="en-US" sz="4400" b="1" i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E09DB-C26C-053E-51A0-156215DBCD8B}"/>
              </a:ext>
            </a:extLst>
          </p:cNvPr>
          <p:cNvSpPr txBox="1"/>
          <p:nvPr/>
        </p:nvSpPr>
        <p:spPr>
          <a:xfrm>
            <a:off x="102623" y="3813785"/>
            <a:ext cx="96944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   </a:t>
            </a:r>
            <a:r>
              <a:rPr lang="en-US" sz="28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Objectives :</a:t>
            </a:r>
            <a:endParaRPr lang="en-US" sz="5400" b="1" i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br>
              <a:rPr lang="en-US" i="1" dirty="0"/>
            </a:br>
            <a:r>
              <a:rPr lang="en-US" sz="1600" i="1" dirty="0">
                <a:latin typeface="Arial Narrow" panose="020B0606020202030204" pitchFamily="34" charset="0"/>
              </a:rPr>
              <a:t>•  </a:t>
            </a:r>
            <a:r>
              <a:rPr lang="en-US" sz="1600" b="1" i="1" dirty="0">
                <a:latin typeface="Arial Narrow" panose="020B0606020202030204" pitchFamily="34" charset="0"/>
              </a:rPr>
              <a:t>Demonstrates Real – life applications </a:t>
            </a:r>
            <a:r>
              <a:rPr lang="en-US" sz="1600" i="1" dirty="0">
                <a:latin typeface="Arial Narrow" panose="020B0606020202030204" pitchFamily="34" charset="0"/>
              </a:rPr>
              <a:t>of </a:t>
            </a:r>
            <a:r>
              <a:rPr lang="en-US" sz="1600" b="1" i="1" dirty="0">
                <a:latin typeface="Arial Narrow" panose="020B0606020202030204" pitchFamily="34" charset="0"/>
              </a:rPr>
              <a:t>Vector , Co – ordinate Geometry </a:t>
            </a:r>
            <a:r>
              <a:rPr lang="en-US" sz="1600" i="1" dirty="0">
                <a:latin typeface="Arial Narrow" panose="020B0606020202030204" pitchFamily="34" charset="0"/>
              </a:rPr>
              <a:t>through</a:t>
            </a:r>
            <a:r>
              <a:rPr lang="en-US" sz="1600" b="1" i="1" dirty="0">
                <a:latin typeface="Arial Narrow" panose="020B0606020202030204" pitchFamily="34" charset="0"/>
              </a:rPr>
              <a:t> Interactive Game .</a:t>
            </a:r>
            <a:br>
              <a:rPr lang="en-US" sz="1600" i="1" dirty="0">
                <a:latin typeface="Arial Narrow" panose="020B0606020202030204" pitchFamily="34" charset="0"/>
              </a:rPr>
            </a:br>
            <a:r>
              <a:rPr lang="en-US" sz="1600" i="1" dirty="0">
                <a:latin typeface="Arial Narrow" panose="020B0606020202030204" pitchFamily="34" charset="0"/>
              </a:rPr>
              <a:t>•  </a:t>
            </a:r>
            <a:r>
              <a:rPr lang="en-US" sz="1600" b="1" i="1" dirty="0">
                <a:latin typeface="Arial Narrow" panose="020B0606020202030204" pitchFamily="34" charset="0"/>
              </a:rPr>
              <a:t>Visually </a:t>
            </a:r>
            <a:r>
              <a:rPr lang="en-US" sz="1600" i="1" dirty="0">
                <a:latin typeface="Arial Narrow" panose="020B0606020202030204" pitchFamily="34" charset="0"/>
              </a:rPr>
              <a:t>and </a:t>
            </a:r>
            <a:r>
              <a:rPr lang="en-US" sz="1600" b="1" i="1" dirty="0">
                <a:latin typeface="Arial Narrow" panose="020B0606020202030204" pitchFamily="34" charset="0"/>
              </a:rPr>
              <a:t>Fun Way </a:t>
            </a:r>
            <a:r>
              <a:rPr lang="en-US" sz="1600" i="1" dirty="0">
                <a:latin typeface="Arial Narrow" panose="020B0606020202030204" pitchFamily="34" charset="0"/>
              </a:rPr>
              <a:t>of</a:t>
            </a:r>
            <a:r>
              <a:rPr lang="en-US" sz="1600" b="1" i="1" dirty="0">
                <a:latin typeface="Arial Narrow" panose="020B0606020202030204" pitchFamily="34" charset="0"/>
              </a:rPr>
              <a:t> Learning </a:t>
            </a:r>
            <a:r>
              <a:rPr lang="en-US" sz="1600" i="1" dirty="0">
                <a:latin typeface="Arial Narrow" panose="020B0606020202030204" pitchFamily="34" charset="0"/>
              </a:rPr>
              <a:t>of the  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Academical Topics </a:t>
            </a:r>
            <a:r>
              <a:rPr lang="en-US" sz="1600" i="1" dirty="0">
                <a:latin typeface="Arial Narrow" panose="020B0606020202030204" pitchFamily="34" charset="0"/>
              </a:rPr>
              <a:t>like  </a:t>
            </a:r>
            <a:r>
              <a:rPr lang="en-US" sz="1600" b="1" i="1" dirty="0">
                <a:solidFill>
                  <a:srgbClr val="FF0000"/>
                </a:solidFill>
                <a:latin typeface="Arial Narrow" panose="020B0606020202030204" pitchFamily="34" charset="0"/>
              </a:rPr>
              <a:t>Vectors, Co – ordinate Geometry </a:t>
            </a:r>
            <a:r>
              <a:rPr lang="en-US" sz="1600" b="1" i="1" dirty="0">
                <a:latin typeface="Arial Narrow" panose="020B0606020202030204" pitchFamily="34" charset="0"/>
              </a:rPr>
              <a:t>.</a:t>
            </a:r>
            <a:br>
              <a:rPr lang="en-US" sz="1600" i="1" dirty="0">
                <a:latin typeface="Arial Narrow" panose="020B0606020202030204" pitchFamily="34" charset="0"/>
              </a:rPr>
            </a:br>
            <a:r>
              <a:rPr lang="en-US" sz="1600" i="1" dirty="0">
                <a:latin typeface="Arial Narrow" panose="020B0606020202030204" pitchFamily="34" charset="0"/>
              </a:rPr>
              <a:t>•  To blend both </a:t>
            </a:r>
            <a:r>
              <a:rPr lang="en-US" sz="1600" b="1" i="1" dirty="0">
                <a:latin typeface="Arial Narrow" panose="020B0606020202030204" pitchFamily="34" charset="0"/>
              </a:rPr>
              <a:t>Mathematical Concepts </a:t>
            </a:r>
            <a:r>
              <a:rPr lang="en-US" sz="1600" i="1" dirty="0">
                <a:latin typeface="Arial Narrow" panose="020B0606020202030204" pitchFamily="34" charset="0"/>
              </a:rPr>
              <a:t>and </a:t>
            </a:r>
            <a:r>
              <a:rPr lang="en-US" sz="1600" b="1" i="1" dirty="0">
                <a:latin typeface="Arial Narrow" panose="020B0606020202030204" pitchFamily="34" charset="0"/>
              </a:rPr>
              <a:t>Programming languages Logics </a:t>
            </a:r>
            <a:r>
              <a:rPr lang="en-US" sz="1600" i="1" dirty="0" err="1">
                <a:latin typeface="Arial Narrow" panose="020B0606020202030204" pitchFamily="34" charset="0"/>
              </a:rPr>
              <a:t>togetherly</a:t>
            </a:r>
            <a:r>
              <a:rPr lang="en-US" sz="1600" b="1" i="1" dirty="0">
                <a:latin typeface="Arial Narrow" panose="020B0606020202030204" pitchFamily="34" charset="0"/>
              </a:rPr>
              <a:t>.</a:t>
            </a:r>
            <a:br>
              <a:rPr lang="en-US" sz="1600" i="1" dirty="0">
                <a:latin typeface="Arial Narrow" panose="020B0606020202030204" pitchFamily="34" charset="0"/>
              </a:rPr>
            </a:br>
            <a:r>
              <a:rPr lang="en-US" sz="1600" i="1" dirty="0">
                <a:latin typeface="Arial Narrow" panose="020B0606020202030204" pitchFamily="34" charset="0"/>
              </a:rPr>
              <a:t>•  Develop </a:t>
            </a:r>
            <a:r>
              <a:rPr lang="en-US" sz="1600" b="1" i="1" dirty="0">
                <a:latin typeface="Arial Narrow" panose="020B0606020202030204" pitchFamily="34" charset="0"/>
              </a:rPr>
              <a:t>Tic – tac – toe Gaming </a:t>
            </a:r>
            <a:r>
              <a:rPr lang="en-US" sz="1600" i="1" dirty="0">
                <a:latin typeface="Arial Narrow" panose="020B0606020202030204" pitchFamily="34" charset="0"/>
              </a:rPr>
              <a:t>for any Scalable board size of  ( </a:t>
            </a:r>
            <a:r>
              <a:rPr lang="en-US" sz="1600" b="1" i="1" dirty="0">
                <a:latin typeface="Arial Narrow" panose="020B0606020202030204" pitchFamily="34" charset="0"/>
              </a:rPr>
              <a:t>N * N </a:t>
            </a:r>
            <a:r>
              <a:rPr lang="en-US" sz="1600" i="1" dirty="0">
                <a:latin typeface="Arial Narrow" panose="020B0606020202030204" pitchFamily="34" charset="0"/>
              </a:rPr>
              <a:t>) square Grids </a:t>
            </a:r>
            <a:r>
              <a:rPr lang="en-US" sz="1600" b="1" i="1" dirty="0">
                <a:latin typeface="Arial Narrow" panose="020B060602020203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D8BDD0-E5E2-C125-3580-6ED800D4D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" r="2822" b="17679"/>
          <a:stretch>
            <a:fillRect/>
          </a:stretch>
        </p:blipFill>
        <p:spPr>
          <a:xfrm>
            <a:off x="8402481" y="1769533"/>
            <a:ext cx="3637166" cy="3827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00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5E4804-FDDA-E5D9-FB01-BF5EB6531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" t="59913" r="58190" b="2058"/>
          <a:stretch>
            <a:fillRect/>
          </a:stretch>
        </p:blipFill>
        <p:spPr>
          <a:xfrm>
            <a:off x="7758682" y="1710400"/>
            <a:ext cx="3747518" cy="31791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F1A623-B68F-2035-A222-700D46F2FE09}"/>
              </a:ext>
            </a:extLst>
          </p:cNvPr>
          <p:cNvGrpSpPr/>
          <p:nvPr/>
        </p:nvGrpSpPr>
        <p:grpSpPr>
          <a:xfrm>
            <a:off x="8054836" y="4243894"/>
            <a:ext cx="3383427" cy="474988"/>
            <a:chOff x="9035218" y="6045800"/>
            <a:chExt cx="2968888" cy="47498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8A90E7-0A94-93B5-77F4-D1D2567879BE}"/>
                </a:ext>
              </a:extLst>
            </p:cNvPr>
            <p:cNvSpPr txBox="1"/>
            <p:nvPr/>
          </p:nvSpPr>
          <p:spPr>
            <a:xfrm>
              <a:off x="9035218" y="6045800"/>
              <a:ext cx="616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A5A5E6-E75A-0EFE-332E-6194099CFF60}"/>
                </a:ext>
              </a:extLst>
            </p:cNvPr>
            <p:cNvSpPr txBox="1"/>
            <p:nvPr/>
          </p:nvSpPr>
          <p:spPr>
            <a:xfrm>
              <a:off x="9856483" y="6045805"/>
              <a:ext cx="616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C3CCCAA-15F0-ABBD-2F63-D44EB67C7B39}"/>
                </a:ext>
              </a:extLst>
            </p:cNvPr>
            <p:cNvSpPr txBox="1"/>
            <p:nvPr/>
          </p:nvSpPr>
          <p:spPr>
            <a:xfrm>
              <a:off x="10652346" y="6054276"/>
              <a:ext cx="616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D77D71-4119-9867-0F14-AB801CEC7A82}"/>
                </a:ext>
              </a:extLst>
            </p:cNvPr>
            <p:cNvSpPr txBox="1"/>
            <p:nvPr/>
          </p:nvSpPr>
          <p:spPr>
            <a:xfrm>
              <a:off x="11387328" y="6059123"/>
              <a:ext cx="616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4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EE7B30-0E77-F278-83F9-71E8FDD310FD}"/>
              </a:ext>
            </a:extLst>
          </p:cNvPr>
          <p:cNvGrpSpPr/>
          <p:nvPr/>
        </p:nvGrpSpPr>
        <p:grpSpPr>
          <a:xfrm>
            <a:off x="8086256" y="2627438"/>
            <a:ext cx="3178021" cy="476905"/>
            <a:chOff x="9126658" y="4826600"/>
            <a:chExt cx="2730978" cy="47690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6B19DD-56D5-767A-586F-61D3336BB87D}"/>
                </a:ext>
              </a:extLst>
            </p:cNvPr>
            <p:cNvSpPr txBox="1"/>
            <p:nvPr/>
          </p:nvSpPr>
          <p:spPr>
            <a:xfrm>
              <a:off x="11317054" y="4836760"/>
              <a:ext cx="5405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49FC57A-D521-0A67-8721-11134D4179B4}"/>
                </a:ext>
              </a:extLst>
            </p:cNvPr>
            <p:cNvSpPr txBox="1"/>
            <p:nvPr/>
          </p:nvSpPr>
          <p:spPr>
            <a:xfrm>
              <a:off x="9126658" y="4841840"/>
              <a:ext cx="424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9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AF9A0E0-B83F-E7A6-057B-1428338ED4DD}"/>
                </a:ext>
              </a:extLst>
            </p:cNvPr>
            <p:cNvSpPr txBox="1"/>
            <p:nvPr/>
          </p:nvSpPr>
          <p:spPr>
            <a:xfrm>
              <a:off x="9827698" y="4836760"/>
              <a:ext cx="495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626875-5D1E-D758-9681-740AF6F2049C}"/>
                </a:ext>
              </a:extLst>
            </p:cNvPr>
            <p:cNvSpPr txBox="1"/>
            <p:nvPr/>
          </p:nvSpPr>
          <p:spPr>
            <a:xfrm>
              <a:off x="10543978" y="4826600"/>
              <a:ext cx="495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7E9DC9-5981-4823-6FEC-3299DA058F50}"/>
              </a:ext>
            </a:extLst>
          </p:cNvPr>
          <p:cNvGrpSpPr/>
          <p:nvPr/>
        </p:nvGrpSpPr>
        <p:grpSpPr>
          <a:xfrm>
            <a:off x="7977706" y="3450967"/>
            <a:ext cx="3361552" cy="471825"/>
            <a:chOff x="9080938" y="5436200"/>
            <a:chExt cx="2741137" cy="47182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ADF87F-D9AE-AD7E-557B-294EE9ECC162}"/>
                </a:ext>
              </a:extLst>
            </p:cNvPr>
            <p:cNvSpPr txBox="1"/>
            <p:nvPr/>
          </p:nvSpPr>
          <p:spPr>
            <a:xfrm>
              <a:off x="9080938" y="5441280"/>
              <a:ext cx="424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82BE61-DE23-702C-6961-4D7B3503B445}"/>
                </a:ext>
              </a:extLst>
            </p:cNvPr>
            <p:cNvSpPr txBox="1"/>
            <p:nvPr/>
          </p:nvSpPr>
          <p:spPr>
            <a:xfrm>
              <a:off x="9888658" y="5446360"/>
              <a:ext cx="424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55FB15-BD83-5D88-65EE-6702310B086D}"/>
                </a:ext>
              </a:extLst>
            </p:cNvPr>
            <p:cNvSpPr txBox="1"/>
            <p:nvPr/>
          </p:nvSpPr>
          <p:spPr>
            <a:xfrm>
              <a:off x="10635418" y="5436200"/>
              <a:ext cx="424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FD0535-F73B-0A33-8402-C0FA3C5A9AA2}"/>
                </a:ext>
              </a:extLst>
            </p:cNvPr>
            <p:cNvSpPr txBox="1"/>
            <p:nvPr/>
          </p:nvSpPr>
          <p:spPr>
            <a:xfrm>
              <a:off x="11397418" y="5441280"/>
              <a:ext cx="424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8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08A5082-C4B9-3728-171E-0032CEB93577}"/>
              </a:ext>
            </a:extLst>
          </p:cNvPr>
          <p:cNvGrpSpPr/>
          <p:nvPr/>
        </p:nvGrpSpPr>
        <p:grpSpPr>
          <a:xfrm>
            <a:off x="8039381" y="1893994"/>
            <a:ext cx="3163022" cy="463528"/>
            <a:chOff x="9014898" y="4182710"/>
            <a:chExt cx="2819877" cy="46801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2429C2-C910-0A8E-C2B9-0B76E3BB73E7}"/>
                </a:ext>
              </a:extLst>
            </p:cNvPr>
            <p:cNvSpPr txBox="1"/>
            <p:nvPr/>
          </p:nvSpPr>
          <p:spPr>
            <a:xfrm>
              <a:off x="9014898" y="4182710"/>
              <a:ext cx="495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73EA572-3407-C1DE-A728-77A70E49446B}"/>
                </a:ext>
              </a:extLst>
            </p:cNvPr>
            <p:cNvSpPr txBox="1"/>
            <p:nvPr/>
          </p:nvSpPr>
          <p:spPr>
            <a:xfrm>
              <a:off x="9776898" y="4189060"/>
              <a:ext cx="495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6FBBA5-1B10-72BC-0144-0B211748BCE9}"/>
                </a:ext>
              </a:extLst>
            </p:cNvPr>
            <p:cNvSpPr txBox="1"/>
            <p:nvPr/>
          </p:nvSpPr>
          <p:spPr>
            <a:xfrm>
              <a:off x="10551598" y="4189060"/>
              <a:ext cx="495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CEEB8D-7901-9F83-F976-B9BDA2B6CA9A}"/>
                </a:ext>
              </a:extLst>
            </p:cNvPr>
            <p:cNvSpPr txBox="1"/>
            <p:nvPr/>
          </p:nvSpPr>
          <p:spPr>
            <a:xfrm>
              <a:off x="11338998" y="4189060"/>
              <a:ext cx="495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/>
                <a:t>16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DA2B1E7-5FD9-0144-DB1B-62C1BE1C5794}"/>
              </a:ext>
            </a:extLst>
          </p:cNvPr>
          <p:cNvGrpSpPr/>
          <p:nvPr/>
        </p:nvGrpSpPr>
        <p:grpSpPr>
          <a:xfrm>
            <a:off x="7311630" y="1815568"/>
            <a:ext cx="4130368" cy="437492"/>
            <a:chOff x="7311630" y="1815568"/>
            <a:chExt cx="4130368" cy="43749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5F4604F-D1D0-FB0A-0BC4-6D4217F45342}"/>
                </a:ext>
              </a:extLst>
            </p:cNvPr>
            <p:cNvCxnSpPr>
              <a:cxnSpLocks/>
            </p:cNvCxnSpPr>
            <p:nvPr/>
          </p:nvCxnSpPr>
          <p:spPr>
            <a:xfrm>
              <a:off x="7832916" y="2102099"/>
              <a:ext cx="3609082" cy="0"/>
            </a:xfrm>
            <a:prstGeom prst="straightConnector1">
              <a:avLst/>
            </a:prstGeom>
            <a:ln w="38100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5EDF37-7DC8-7121-C19B-2CE7C580ED5C}"/>
                    </a:ext>
                  </a:extLst>
                </p:cNvPr>
                <p:cNvSpPr txBox="1"/>
                <p:nvPr/>
              </p:nvSpPr>
              <p:spPr>
                <a:xfrm>
                  <a:off x="7311630" y="1815568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4</a:t>
                  </a:r>
                  <a:endParaRPr lang="en-US" sz="2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5EDF37-7DC8-7121-C19B-2CE7C580E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1630" y="1815568"/>
                  <a:ext cx="736600" cy="437492"/>
                </a:xfrm>
                <a:prstGeom prst="rect">
                  <a:avLst/>
                </a:prstGeom>
                <a:blipFill>
                  <a:blip r:embed="rId3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F17D0FB-660C-7B3E-4AC8-9BAD8F4FE527}"/>
              </a:ext>
            </a:extLst>
          </p:cNvPr>
          <p:cNvGrpSpPr/>
          <p:nvPr/>
        </p:nvGrpSpPr>
        <p:grpSpPr>
          <a:xfrm>
            <a:off x="7840447" y="1322784"/>
            <a:ext cx="4221894" cy="3482907"/>
            <a:chOff x="7840447" y="1322784"/>
            <a:chExt cx="4221894" cy="348290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3A80D8E-B0EC-332B-37EE-40961E548B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0447" y="1723217"/>
              <a:ext cx="3609082" cy="3082474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AF437F-F017-9151-A608-CBF878FF3289}"/>
                    </a:ext>
                  </a:extLst>
                </p:cNvPr>
                <p:cNvSpPr txBox="1"/>
                <p:nvPr/>
              </p:nvSpPr>
              <p:spPr>
                <a:xfrm>
                  <a:off x="11522777" y="1322784"/>
                  <a:ext cx="539564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9</a:t>
                  </a:r>
                  <a:endParaRPr 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AF437F-F017-9151-A608-CBF878FF3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22777" y="1322784"/>
                  <a:ext cx="539564" cy="437492"/>
                </a:xfrm>
                <a:prstGeom prst="rect">
                  <a:avLst/>
                </a:prstGeom>
                <a:blipFill>
                  <a:blip r:embed="rId4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CC3FE49-758A-2BD9-6190-850532A44C20}"/>
              </a:ext>
            </a:extLst>
          </p:cNvPr>
          <p:cNvGrpSpPr/>
          <p:nvPr/>
        </p:nvGrpSpPr>
        <p:grpSpPr>
          <a:xfrm>
            <a:off x="7503071" y="1193832"/>
            <a:ext cx="3946605" cy="3632516"/>
            <a:chOff x="7503071" y="1193832"/>
            <a:chExt cx="3946605" cy="36325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637D826-177C-78B3-DD44-EC1522EA24EC}"/>
                    </a:ext>
                  </a:extLst>
                </p:cNvPr>
                <p:cNvSpPr txBox="1"/>
                <p:nvPr/>
              </p:nvSpPr>
              <p:spPr>
                <a:xfrm>
                  <a:off x="7503071" y="1193832"/>
                  <a:ext cx="573941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rgbClr val="FF0000"/>
                      </a:solidFill>
                    </a:rPr>
                    <a:t>10</a:t>
                  </a:r>
                  <a:endParaRPr 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637D826-177C-78B3-DD44-EC1522EA2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071" y="1193832"/>
                  <a:ext cx="573941" cy="437492"/>
                </a:xfrm>
                <a:prstGeom prst="rect">
                  <a:avLst/>
                </a:prstGeom>
                <a:blipFill>
                  <a:blip r:embed="rId5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1CD488-F51B-707D-388E-B8CFD39DD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21665" y="1750835"/>
              <a:ext cx="3628011" cy="3075513"/>
            </a:xfrm>
            <a:prstGeom prst="straightConnector1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919DE1-6342-71BA-5C1D-3B2A73F7D099}"/>
              </a:ext>
            </a:extLst>
          </p:cNvPr>
          <p:cNvGrpSpPr/>
          <p:nvPr/>
        </p:nvGrpSpPr>
        <p:grpSpPr>
          <a:xfrm>
            <a:off x="7294694" y="2643609"/>
            <a:ext cx="4155770" cy="437492"/>
            <a:chOff x="7294694" y="2643609"/>
            <a:chExt cx="4155770" cy="43749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BB7C768-AC9A-91C5-104D-905E0C04352C}"/>
                </a:ext>
              </a:extLst>
            </p:cNvPr>
            <p:cNvCxnSpPr>
              <a:cxnSpLocks/>
            </p:cNvCxnSpPr>
            <p:nvPr/>
          </p:nvCxnSpPr>
          <p:spPr>
            <a:xfrm>
              <a:off x="7841382" y="2896277"/>
              <a:ext cx="3609082" cy="0"/>
            </a:xfrm>
            <a:prstGeom prst="straightConnector1">
              <a:avLst/>
            </a:prstGeom>
            <a:ln w="38100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F3CFC00-EB00-7A05-F974-A1A8C1CBE4F5}"/>
                    </a:ext>
                  </a:extLst>
                </p:cNvPr>
                <p:cNvSpPr txBox="1"/>
                <p:nvPr/>
              </p:nvSpPr>
              <p:spPr>
                <a:xfrm>
                  <a:off x="7294694" y="2643609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3</a:t>
                  </a:r>
                  <a:endParaRPr lang="en-US" sz="2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F3CFC00-EB00-7A05-F974-A1A8C1CBE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694" y="2643609"/>
                  <a:ext cx="736600" cy="437492"/>
                </a:xfrm>
                <a:prstGeom prst="rect">
                  <a:avLst/>
                </a:prstGeom>
                <a:blipFill>
                  <a:blip r:embed="rId6"/>
                  <a:stretch>
                    <a:fillRect b="-225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8E74BB9-7B90-DF8E-963F-3CE8CCA561C5}"/>
              </a:ext>
            </a:extLst>
          </p:cNvPr>
          <p:cNvGrpSpPr/>
          <p:nvPr/>
        </p:nvGrpSpPr>
        <p:grpSpPr>
          <a:xfrm>
            <a:off x="7262523" y="3415771"/>
            <a:ext cx="4187941" cy="437492"/>
            <a:chOff x="7262523" y="3415771"/>
            <a:chExt cx="4187941" cy="4374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78E58B-B62B-520C-FA6F-5589401D5014}"/>
                    </a:ext>
                  </a:extLst>
                </p:cNvPr>
                <p:cNvSpPr txBox="1"/>
                <p:nvPr/>
              </p:nvSpPr>
              <p:spPr>
                <a:xfrm>
                  <a:off x="7262523" y="3415771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2</a:t>
                  </a:r>
                  <a:endParaRPr lang="en-US" sz="2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78E58B-B62B-520C-FA6F-5589401D5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2523" y="3415771"/>
                  <a:ext cx="736600" cy="437492"/>
                </a:xfrm>
                <a:prstGeom prst="rect">
                  <a:avLst/>
                </a:prstGeom>
                <a:blipFill>
                  <a:blip r:embed="rId7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874D00-6EA1-42DB-F55F-D0ABBAEA968C}"/>
                </a:ext>
              </a:extLst>
            </p:cNvPr>
            <p:cNvCxnSpPr>
              <a:cxnSpLocks/>
            </p:cNvCxnSpPr>
            <p:nvPr/>
          </p:nvCxnSpPr>
          <p:spPr>
            <a:xfrm>
              <a:off x="7841382" y="3695532"/>
              <a:ext cx="3609082" cy="0"/>
            </a:xfrm>
            <a:prstGeom prst="straightConnector1">
              <a:avLst/>
            </a:prstGeom>
            <a:ln w="38100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28D912E-9070-EA7F-B559-AB4F8AAAB00D}"/>
              </a:ext>
            </a:extLst>
          </p:cNvPr>
          <p:cNvGrpSpPr/>
          <p:nvPr/>
        </p:nvGrpSpPr>
        <p:grpSpPr>
          <a:xfrm>
            <a:off x="8069279" y="1740902"/>
            <a:ext cx="736600" cy="3629091"/>
            <a:chOff x="8069279" y="1740902"/>
            <a:chExt cx="736600" cy="3629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A04773-2617-A308-2176-9B5B17CDAFD4}"/>
                    </a:ext>
                  </a:extLst>
                </p:cNvPr>
                <p:cNvSpPr txBox="1"/>
                <p:nvPr/>
              </p:nvSpPr>
              <p:spPr>
                <a:xfrm>
                  <a:off x="8069279" y="4932501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5</a:t>
                  </a:r>
                  <a:endParaRPr lang="en-US" sz="20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BA04773-2617-A308-2176-9B5B17CDA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9279" y="4932501"/>
                  <a:ext cx="736600" cy="437492"/>
                </a:xfrm>
                <a:prstGeom prst="rect">
                  <a:avLst/>
                </a:prstGeom>
                <a:blipFill>
                  <a:blip r:embed="rId8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25FEC80-2919-07B2-C34F-E0B045CD6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8600" y="1740902"/>
              <a:ext cx="0" cy="3123436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627E4C0-D201-5945-A7CA-3786FE6F4593}"/>
              </a:ext>
            </a:extLst>
          </p:cNvPr>
          <p:cNvGrpSpPr/>
          <p:nvPr/>
        </p:nvGrpSpPr>
        <p:grpSpPr>
          <a:xfrm>
            <a:off x="7289793" y="4247553"/>
            <a:ext cx="4179478" cy="437492"/>
            <a:chOff x="7289793" y="4247553"/>
            <a:chExt cx="4179478" cy="43749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A0C5C5C-BAD9-621F-219F-FCC82D213252}"/>
                </a:ext>
              </a:extLst>
            </p:cNvPr>
            <p:cNvCxnSpPr>
              <a:cxnSpLocks/>
            </p:cNvCxnSpPr>
            <p:nvPr/>
          </p:nvCxnSpPr>
          <p:spPr>
            <a:xfrm>
              <a:off x="7860189" y="4498793"/>
              <a:ext cx="3609082" cy="0"/>
            </a:xfrm>
            <a:prstGeom prst="straightConnector1">
              <a:avLst/>
            </a:prstGeom>
            <a:ln w="38100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7AF881-E220-0EF9-8C9C-04817D814B9E}"/>
                    </a:ext>
                  </a:extLst>
                </p:cNvPr>
                <p:cNvSpPr txBox="1"/>
                <p:nvPr/>
              </p:nvSpPr>
              <p:spPr>
                <a:xfrm>
                  <a:off x="7289793" y="4247553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1</a:t>
                  </a:r>
                  <a:endParaRPr lang="en-US" sz="2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17AF881-E220-0EF9-8C9C-04817D814B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9793" y="4247553"/>
                  <a:ext cx="736600" cy="437492"/>
                </a:xfrm>
                <a:prstGeom prst="rect">
                  <a:avLst/>
                </a:prstGeom>
                <a:blipFill>
                  <a:blip r:embed="rId9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D2325F-9779-2FAD-43A3-799520061E62}"/>
              </a:ext>
            </a:extLst>
          </p:cNvPr>
          <p:cNvGrpSpPr/>
          <p:nvPr/>
        </p:nvGrpSpPr>
        <p:grpSpPr>
          <a:xfrm>
            <a:off x="8937819" y="1723974"/>
            <a:ext cx="736600" cy="3710829"/>
            <a:chOff x="8937819" y="1723974"/>
            <a:chExt cx="736600" cy="371082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7D23063-1394-4159-9DFD-002DC748E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0671" y="1723974"/>
              <a:ext cx="0" cy="3123436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611DD3-FECB-CDE8-8AEC-3D97113A86DD}"/>
                    </a:ext>
                  </a:extLst>
                </p:cNvPr>
                <p:cNvSpPr txBox="1"/>
                <p:nvPr/>
              </p:nvSpPr>
              <p:spPr>
                <a:xfrm>
                  <a:off x="8937819" y="4997311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6</a:t>
                  </a:r>
                  <a:endParaRPr lang="en-US" sz="20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1611DD3-FECB-CDE8-8AEC-3D97113A8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7819" y="4997311"/>
                  <a:ext cx="736600" cy="437492"/>
                </a:xfrm>
                <a:prstGeom prst="rect">
                  <a:avLst/>
                </a:prstGeom>
                <a:blipFill>
                  <a:blip r:embed="rId10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A41E597-4F10-822C-AE1C-0B52B0D7E0F9}"/>
              </a:ext>
            </a:extLst>
          </p:cNvPr>
          <p:cNvGrpSpPr/>
          <p:nvPr/>
        </p:nvGrpSpPr>
        <p:grpSpPr>
          <a:xfrm>
            <a:off x="10746526" y="1740906"/>
            <a:ext cx="736600" cy="3652883"/>
            <a:chOff x="10746526" y="1740906"/>
            <a:chExt cx="736600" cy="365288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C4A7F02-2999-7B79-2325-BC8DE0C59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84875" y="1740906"/>
              <a:ext cx="0" cy="3123436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961BC7-E531-28E4-C67F-21FAAC8977E2}"/>
                    </a:ext>
                  </a:extLst>
                </p:cNvPr>
                <p:cNvSpPr txBox="1"/>
                <p:nvPr/>
              </p:nvSpPr>
              <p:spPr>
                <a:xfrm>
                  <a:off x="10746526" y="4956297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8</a:t>
                  </a:r>
                  <a:endParaRPr lang="en-US" sz="20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961BC7-E531-28E4-C67F-21FAAC8977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6526" y="4956297"/>
                  <a:ext cx="736600" cy="437492"/>
                </a:xfrm>
                <a:prstGeom prst="rect">
                  <a:avLst/>
                </a:prstGeom>
                <a:blipFill>
                  <a:blip r:embed="rId11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2E84E80-F7C3-B516-CE50-418DA32E64C0}"/>
              </a:ext>
            </a:extLst>
          </p:cNvPr>
          <p:cNvGrpSpPr/>
          <p:nvPr/>
        </p:nvGrpSpPr>
        <p:grpSpPr>
          <a:xfrm>
            <a:off x="9815197" y="1749373"/>
            <a:ext cx="736600" cy="3644419"/>
            <a:chOff x="9815197" y="1749373"/>
            <a:chExt cx="736600" cy="3644419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E7A9388-146F-E445-22B8-1C58E823C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6609" y="1749373"/>
              <a:ext cx="0" cy="3123436"/>
            </a:xfrm>
            <a:prstGeom prst="straightConnector1">
              <a:avLst/>
            </a:prstGeom>
            <a:ln w="381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0A1CCBF-CB12-E301-E98E-226E84C0767B}"/>
                    </a:ext>
                  </a:extLst>
                </p:cNvPr>
                <p:cNvSpPr txBox="1"/>
                <p:nvPr/>
              </p:nvSpPr>
              <p:spPr>
                <a:xfrm>
                  <a:off x="9815197" y="4956300"/>
                  <a:ext cx="736600" cy="43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acc>
                    </m:oMath>
                  </a14:m>
                  <a:r>
                    <a:rPr lang="en-US" sz="2000" b="1" i="1" baseline="-250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7</a:t>
                  </a:r>
                  <a:endParaRPr lang="en-US" sz="20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0A1CCBF-CB12-E301-E98E-226E84C07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5197" y="4956300"/>
                  <a:ext cx="736600" cy="437492"/>
                </a:xfrm>
                <a:prstGeom prst="rect">
                  <a:avLst/>
                </a:prstGeom>
                <a:blipFill>
                  <a:blip r:embed="rId12"/>
                  <a:stretch>
                    <a:fillRect b="-208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540A778-F1EB-B589-2043-A861B7467D5A}"/>
              </a:ext>
            </a:extLst>
          </p:cNvPr>
          <p:cNvSpPr txBox="1"/>
          <p:nvPr/>
        </p:nvSpPr>
        <p:spPr>
          <a:xfrm>
            <a:off x="164387" y="3283947"/>
            <a:ext cx="54042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Total no of Vectors =   Rows + Column + Diagonals</a:t>
            </a:r>
            <a:br>
              <a:rPr lang="en-US" b="1" i="1" dirty="0"/>
            </a:br>
            <a:r>
              <a:rPr lang="en-US" b="1" i="1" dirty="0"/>
              <a:t> 		=   N + N + 2</a:t>
            </a:r>
            <a:br>
              <a:rPr lang="en-US" b="1" i="1" dirty="0"/>
            </a:br>
            <a:r>
              <a:rPr lang="en-US" b="1" i="1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჻ Vectors (Total)   =   2 ( N + 1 )</a:t>
            </a:r>
            <a:br>
              <a:rPr lang="en-US" b="1" i="1" dirty="0"/>
            </a:br>
            <a:br>
              <a:rPr lang="en-US" b="1" i="1" dirty="0"/>
            </a:br>
            <a:r>
              <a:rPr lang="en-US" b="1" i="1" dirty="0"/>
              <a:t>When , </a:t>
            </a:r>
            <a:br>
              <a:rPr lang="en-US" b="1" i="1" dirty="0"/>
            </a:br>
            <a:r>
              <a:rPr lang="en-US" b="1" i="1" dirty="0">
                <a:solidFill>
                  <a:schemeClr val="accent1"/>
                </a:solidFill>
              </a:rPr>
              <a:t>N = 4</a:t>
            </a:r>
            <a:br>
              <a:rPr lang="en-US" b="1" i="1" dirty="0"/>
            </a:br>
            <a:r>
              <a:rPr lang="en-US" b="1" i="1" dirty="0"/>
              <a:t>Total Vectors  =  2 ( 4 + 1 )</a:t>
            </a:r>
            <a:br>
              <a:rPr lang="en-US" b="1" i="1" dirty="0"/>
            </a:br>
            <a:r>
              <a:rPr lang="en-US" b="1" i="1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჻ Vectors (Total )  =  10</a:t>
            </a:r>
            <a:br>
              <a:rPr lang="en-US" sz="2400" b="1" i="1" dirty="0"/>
            </a:br>
            <a:endParaRPr lang="en-US" sz="2400" b="1" i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4BDA30-EC7F-C41E-981B-FE1B7899B774}"/>
              </a:ext>
            </a:extLst>
          </p:cNvPr>
          <p:cNvSpPr txBox="1"/>
          <p:nvPr/>
        </p:nvSpPr>
        <p:spPr>
          <a:xfrm>
            <a:off x="230161" y="1239514"/>
            <a:ext cx="6072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Visualization of Vector :</a:t>
            </a:r>
            <a:br>
              <a:rPr lang="en-US" sz="2800" b="1" i="1" dirty="0">
                <a:solidFill>
                  <a:schemeClr val="accent1"/>
                </a:solidFill>
              </a:rPr>
            </a:br>
            <a:br>
              <a:rPr lang="en-US" sz="2800" b="1" i="1" dirty="0">
                <a:solidFill>
                  <a:schemeClr val="accent1"/>
                </a:solidFill>
              </a:rPr>
            </a:br>
            <a:r>
              <a:rPr lang="en-US" sz="1600" b="1" i="1" dirty="0"/>
              <a:t>Whenever a player wins the game,</a:t>
            </a:r>
            <a:br>
              <a:rPr lang="en-US" sz="1600" b="1" i="1" dirty="0"/>
            </a:br>
            <a:r>
              <a:rPr lang="en-US" sz="1600" b="1" i="1" dirty="0"/>
              <a:t>his winning moves will always forms a St line.</a:t>
            </a:r>
            <a:br>
              <a:rPr lang="en-US" sz="1600" b="1" i="1" dirty="0"/>
            </a:br>
            <a:r>
              <a:rPr lang="en-US" sz="1600" b="1" i="1" dirty="0"/>
              <a:t>Now, whenever we see the Visualize the St line,</a:t>
            </a:r>
            <a:br>
              <a:rPr lang="en-US" sz="1600" b="1" i="1" dirty="0"/>
            </a:br>
            <a:r>
              <a:rPr lang="en-US" sz="1600" b="1" i="1" dirty="0"/>
              <a:t>then one can use Cartesian or Vector Geometry.</a:t>
            </a:r>
            <a:endParaRPr lang="en-US" sz="2800" b="1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9C3CB3-8944-B334-101C-D25598573C4E}"/>
              </a:ext>
            </a:extLst>
          </p:cNvPr>
          <p:cNvSpPr txBox="1"/>
          <p:nvPr/>
        </p:nvSpPr>
        <p:spPr>
          <a:xfrm>
            <a:off x="122716" y="272527"/>
            <a:ext cx="8636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rgbClr val="FF0000"/>
                </a:solidFill>
              </a:rPr>
              <a:t>Vectors Movement  in the Grid :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EB3671-F990-71B9-D18E-3C632CE08D13}"/>
              </a:ext>
            </a:extLst>
          </p:cNvPr>
          <p:cNvSpPr txBox="1"/>
          <p:nvPr/>
        </p:nvSpPr>
        <p:spPr>
          <a:xfrm>
            <a:off x="8056347" y="5351645"/>
            <a:ext cx="3892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</a:rPr>
              <a:t>  Fig : 4 * 4 matrix </a:t>
            </a:r>
          </a:p>
        </p:txBody>
      </p:sp>
    </p:spTree>
    <p:extLst>
      <p:ext uri="{BB962C8B-B14F-4D97-AF65-F5344CB8AC3E}">
        <p14:creationId xmlns:p14="http://schemas.microsoft.com/office/powerpoint/2010/main" val="84532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2B1E1-0E5E-3826-838A-FBD1CF70B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00" y="339725"/>
            <a:ext cx="7086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82D77-DB44-A748-C8E1-D11128D133DB}"/>
              </a:ext>
            </a:extLst>
          </p:cNvPr>
          <p:cNvSpPr txBox="1"/>
          <p:nvPr/>
        </p:nvSpPr>
        <p:spPr>
          <a:xfrm>
            <a:off x="145850" y="231050"/>
            <a:ext cx="70866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Numeric Value into Points : </a:t>
            </a:r>
            <a:br>
              <a:rPr lang="en-US" b="1" i="1" dirty="0"/>
            </a:br>
            <a:endParaRPr lang="en-US" b="1" i="1" dirty="0"/>
          </a:p>
          <a:p>
            <a:endParaRPr lang="en-US" b="1" i="1" dirty="0"/>
          </a:p>
          <a:p>
            <a:endParaRPr lang="en-US" b="1" i="1" dirty="0"/>
          </a:p>
          <a:p>
            <a:br>
              <a:rPr lang="en-US" b="1" i="1" dirty="0"/>
            </a:br>
            <a:r>
              <a:rPr lang="en-US" b="1" i="1" dirty="0"/>
              <a:t>We need to remember that the user ,</a:t>
            </a:r>
            <a:br>
              <a:rPr lang="en-US" b="1" i="1" dirty="0"/>
            </a:br>
            <a:r>
              <a:rPr lang="en-US" b="1" i="1" dirty="0"/>
              <a:t>will always input numeric  value (displayed in the Console) </a:t>
            </a:r>
            <a:br>
              <a:rPr lang="en-US" b="1" i="1" dirty="0"/>
            </a:br>
            <a:r>
              <a:rPr lang="en-US" b="1" i="1" dirty="0"/>
              <a:t>which will be used as cell.</a:t>
            </a:r>
            <a:br>
              <a:rPr lang="en-US" b="1" i="1" dirty="0"/>
            </a:br>
            <a:br>
              <a:rPr lang="en-US" b="1" i="1" dirty="0"/>
            </a:br>
            <a:r>
              <a:rPr lang="en-US" b="1" i="1" dirty="0"/>
              <a:t>So, that numeric value will be converted into points (Coordinates)</a:t>
            </a:r>
            <a:br>
              <a:rPr lang="en-US" b="1" i="1" dirty="0"/>
            </a:br>
            <a:r>
              <a:rPr lang="en-US" b="1" i="1" dirty="0"/>
              <a:t>of the graph using few math formula.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88CDC9-0B3C-4A90-ECCC-80C603545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0" b="15650"/>
          <a:stretch>
            <a:fillRect/>
          </a:stretch>
        </p:blipFill>
        <p:spPr>
          <a:xfrm>
            <a:off x="6727536" y="339725"/>
            <a:ext cx="5299364" cy="628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054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8BAEDD-6621-B98B-2109-E8E6B7602F16}"/>
              </a:ext>
            </a:extLst>
          </p:cNvPr>
          <p:cNvSpPr txBox="1"/>
          <p:nvPr/>
        </p:nvSpPr>
        <p:spPr>
          <a:xfrm>
            <a:off x="205483" y="205483"/>
            <a:ext cx="6976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Why use Vector Geometry ??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0427B-B781-262C-A273-71A657F00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7" y="3698694"/>
            <a:ext cx="12099533" cy="2934691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7DF0A7-C986-808C-9F05-159DEE827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30" y="790258"/>
            <a:ext cx="11929027" cy="240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5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967C-870E-2866-3D8F-AAC812448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953" y="56387"/>
            <a:ext cx="7362472" cy="684758"/>
          </a:xfrm>
          <a:scene3d>
            <a:camera prst="perspectiveLeft"/>
            <a:lightRig rig="threePt" dir="t"/>
          </a:scene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Vector  Parametric </a:t>
            </a:r>
            <a:r>
              <a:rPr lang="en-US" sz="3200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Eqs</a:t>
            </a:r>
            <a:r>
              <a:rPr lang="en-US" sz="32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of all lines 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832E4-299A-5042-2ED7-25DDD6E65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5" b="4074"/>
          <a:stretch>
            <a:fillRect/>
          </a:stretch>
        </p:blipFill>
        <p:spPr>
          <a:xfrm>
            <a:off x="327726" y="741145"/>
            <a:ext cx="5768273" cy="5837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CE45A0-8AA5-CB03-D174-AE604279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2" b="1852"/>
          <a:stretch>
            <a:fillRect/>
          </a:stretch>
        </p:blipFill>
        <p:spPr>
          <a:xfrm>
            <a:off x="6439301" y="741145"/>
            <a:ext cx="5424972" cy="5837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887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C151FB-58FF-0908-7732-9240EA9002BB}"/>
              </a:ext>
            </a:extLst>
          </p:cNvPr>
          <p:cNvSpPr txBox="1"/>
          <p:nvPr/>
        </p:nvSpPr>
        <p:spPr>
          <a:xfrm>
            <a:off x="87416" y="197454"/>
            <a:ext cx="5215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Tie  –  Breaker  Mode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7F54E-12C2-0A2B-2FF9-5B9C4EB8B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07"/>
          <a:stretch>
            <a:fillRect/>
          </a:stretch>
        </p:blipFill>
        <p:spPr>
          <a:xfrm>
            <a:off x="308798" y="985344"/>
            <a:ext cx="4301703" cy="251138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2478C30-39E9-BDDC-ADDA-414083F6C33C}"/>
              </a:ext>
            </a:extLst>
          </p:cNvPr>
          <p:cNvGrpSpPr/>
          <p:nvPr/>
        </p:nvGrpSpPr>
        <p:grpSpPr>
          <a:xfrm>
            <a:off x="6996701" y="426444"/>
            <a:ext cx="4869450" cy="3034925"/>
            <a:chOff x="6000108" y="394075"/>
            <a:chExt cx="5342562" cy="30349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59ED4FD-979A-3677-9B7F-E96B7760F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0108" y="394075"/>
              <a:ext cx="5342562" cy="30349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A7811B1-0F1C-0D66-D3BD-1CF7290F1E30}"/>
                </a:ext>
              </a:extLst>
            </p:cNvPr>
            <p:cNvSpPr txBox="1"/>
            <p:nvPr/>
          </p:nvSpPr>
          <p:spPr>
            <a:xfrm>
              <a:off x="10279783" y="1809553"/>
              <a:ext cx="452387" cy="375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/>
                <a:t> X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C39C1C-685C-F235-BD14-C82A7425BDF9}"/>
                </a:ext>
              </a:extLst>
            </p:cNvPr>
            <p:cNvSpPr txBox="1"/>
            <p:nvPr/>
          </p:nvSpPr>
          <p:spPr>
            <a:xfrm>
              <a:off x="8035488" y="431534"/>
              <a:ext cx="452387" cy="375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/>
                <a:t> 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030595-9AE1-E3E6-E757-07B9F0CD42C5}"/>
              </a:ext>
            </a:extLst>
          </p:cNvPr>
          <p:cNvGrpSpPr/>
          <p:nvPr/>
        </p:nvGrpSpPr>
        <p:grpSpPr>
          <a:xfrm>
            <a:off x="10033849" y="3868768"/>
            <a:ext cx="2139403" cy="1951420"/>
            <a:chOff x="8610600" y="3966780"/>
            <a:chExt cx="3336102" cy="26963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C4418F-D13F-8106-198E-D204C1AA5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600" y="3966780"/>
              <a:ext cx="3336102" cy="26963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9FE2DB-2A9A-4F54-48F0-6CFD331AFA65}"/>
                </a:ext>
              </a:extLst>
            </p:cNvPr>
            <p:cNvSpPr txBox="1"/>
            <p:nvPr/>
          </p:nvSpPr>
          <p:spPr>
            <a:xfrm>
              <a:off x="10999266" y="5062094"/>
              <a:ext cx="4523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 X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908324-05A4-12C4-43CB-9A54B0A0EB0B}"/>
              </a:ext>
            </a:extLst>
          </p:cNvPr>
          <p:cNvSpPr txBox="1"/>
          <p:nvPr/>
        </p:nvSpPr>
        <p:spPr>
          <a:xfrm>
            <a:off x="-40990" y="4338316"/>
            <a:ext cx="731768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1</a:t>
            </a:r>
            <a:r>
              <a:rPr lang="en-US" sz="1400" b="1" i="1" baseline="30000" dirty="0"/>
              <a:t>st</a:t>
            </a:r>
            <a:r>
              <a:rPr lang="en-US" sz="1400" b="1" i="1" dirty="0"/>
              <a:t> Step : </a:t>
            </a:r>
            <a:br>
              <a:rPr lang="en-US" sz="1600" i="1" dirty="0"/>
            </a:br>
            <a:r>
              <a:rPr lang="en-US" sz="1600" i="1" dirty="0"/>
              <a:t>  </a:t>
            </a:r>
            <a:r>
              <a:rPr lang="en-US" sz="1200" i="1" dirty="0"/>
              <a:t>We will plot those respective player moves in Graph (as Shown in Fig).</a:t>
            </a:r>
            <a:br>
              <a:rPr lang="en-US" sz="1200" i="1" dirty="0"/>
            </a:br>
            <a:r>
              <a:rPr lang="en-US" sz="1200" b="1" i="1" dirty="0"/>
              <a:t>2</a:t>
            </a:r>
            <a:r>
              <a:rPr lang="en-US" sz="1200" b="1" i="1" baseline="30000" dirty="0"/>
              <a:t>nd</a:t>
            </a:r>
            <a:r>
              <a:rPr lang="en-US" sz="1200" b="1" i="1" dirty="0"/>
              <a:t>  Step : </a:t>
            </a:r>
            <a:br>
              <a:rPr lang="en-US" sz="1200" i="1" dirty="0"/>
            </a:br>
            <a:r>
              <a:rPr lang="en-US" sz="1200" i="1" dirty="0"/>
              <a:t>    We will Calculate the  Centroid (Middle Point) among all the points to  evaluate how separate (Intersection Angle) </a:t>
            </a:r>
            <a:br>
              <a:rPr lang="en-US" sz="1200" i="1" dirty="0"/>
            </a:br>
            <a:r>
              <a:rPr lang="en-US" sz="1200" i="1" dirty="0"/>
              <a:t>    each  vectors are from each others .  </a:t>
            </a:r>
            <a:r>
              <a:rPr lang="en-US" sz="1200" b="1" i="1" dirty="0">
                <a:solidFill>
                  <a:srgbClr val="FF0000"/>
                </a:solidFill>
              </a:rPr>
              <a:t>Like , In Figure between (OA, OB)  =  </a:t>
            </a:r>
            <a:r>
              <a:rPr lang="el-GR" sz="1200" b="1" dirty="0">
                <a:solidFill>
                  <a:srgbClr val="FF0000"/>
                </a:solidFill>
              </a:rPr>
              <a:t>θ</a:t>
            </a:r>
            <a:r>
              <a:rPr lang="en-US" sz="1200" b="1" dirty="0">
                <a:solidFill>
                  <a:srgbClr val="FF0000"/>
                </a:solidFill>
              </a:rPr>
              <a:t>, </a:t>
            </a:r>
            <a:r>
              <a:rPr lang="en-US" sz="1200" b="1" i="1" dirty="0">
                <a:solidFill>
                  <a:srgbClr val="FF0000"/>
                </a:solidFill>
              </a:rPr>
              <a:t>(OA and 0C,OD)  =  90 + </a:t>
            </a:r>
            <a:r>
              <a:rPr lang="el-GR" sz="1200" b="1" dirty="0">
                <a:solidFill>
                  <a:srgbClr val="FF0000"/>
                </a:solidFill>
              </a:rPr>
              <a:t>θ</a:t>
            </a:r>
            <a:r>
              <a:rPr lang="en-US" sz="1200" b="1" i="1" dirty="0">
                <a:solidFill>
                  <a:srgbClr val="FF0000"/>
                </a:solidFill>
              </a:rPr>
              <a:t>.</a:t>
            </a:r>
            <a:br>
              <a:rPr lang="en-US" sz="1200" dirty="0"/>
            </a:br>
            <a:r>
              <a:rPr lang="en-US" sz="1200" b="1" dirty="0"/>
              <a:t>3</a:t>
            </a:r>
            <a:r>
              <a:rPr lang="en-US" sz="1200" b="1" baseline="30000" dirty="0"/>
              <a:t>rd</a:t>
            </a:r>
            <a:r>
              <a:rPr lang="en-US" sz="1200" b="1" dirty="0"/>
              <a:t> Step : </a:t>
            </a:r>
            <a:br>
              <a:rPr lang="en-US" sz="1200" i="1" dirty="0"/>
            </a:br>
            <a:r>
              <a:rPr lang="en-US" sz="1200" i="1" dirty="0"/>
              <a:t>  We will make all the possible vector pair sets and then calculate the  Angle of intersection </a:t>
            </a:r>
            <a:r>
              <a:rPr lang="en-US" sz="1200" b="1" i="1" dirty="0"/>
              <a:t>(Cos</a:t>
            </a:r>
            <a:r>
              <a:rPr lang="el-GR" sz="1200" b="1" dirty="0"/>
              <a:t>θ</a:t>
            </a:r>
            <a:r>
              <a:rPr lang="en-US" sz="1200" b="1" i="1" dirty="0"/>
              <a:t>) </a:t>
            </a:r>
            <a:r>
              <a:rPr lang="en-US" sz="1200" i="1" dirty="0"/>
              <a:t>between them.</a:t>
            </a:r>
            <a:br>
              <a:rPr lang="en-US" sz="1200" i="1" dirty="0"/>
            </a:br>
            <a:r>
              <a:rPr lang="en-US" sz="1200" b="1" i="1" dirty="0"/>
              <a:t> 4</a:t>
            </a:r>
            <a:r>
              <a:rPr lang="en-US" sz="1200" b="1" i="1" baseline="30000" dirty="0"/>
              <a:t>th</a:t>
            </a:r>
            <a:r>
              <a:rPr lang="en-US" sz="1200" b="1" i="1" dirty="0"/>
              <a:t> Step :  </a:t>
            </a:r>
            <a:r>
              <a:rPr lang="en-US" sz="1200" i="1" dirty="0"/>
              <a:t>We will calculate the average angle of intersection for each players. </a:t>
            </a:r>
            <a:br>
              <a:rPr lang="en-US" sz="1200" i="1" dirty="0"/>
            </a:br>
            <a:r>
              <a:rPr lang="en-US" sz="1200" i="1" dirty="0"/>
              <a:t>                 </a:t>
            </a:r>
            <a:r>
              <a:rPr lang="en-US" sz="1200" b="1" i="1" dirty="0">
                <a:solidFill>
                  <a:srgbClr val="FF0000"/>
                </a:solidFill>
              </a:rPr>
              <a:t>{ Ignores ,0 and 180 degree, </a:t>
            </a:r>
            <a:r>
              <a:rPr lang="en-US" sz="1200" b="1" i="1" dirty="0" err="1">
                <a:solidFill>
                  <a:srgbClr val="FF0000"/>
                </a:solidFill>
              </a:rPr>
              <a:t>bcoz</a:t>
            </a:r>
            <a:r>
              <a:rPr lang="en-US" sz="1200" b="1" i="1" dirty="0">
                <a:solidFill>
                  <a:srgbClr val="FF0000"/>
                </a:solidFill>
              </a:rPr>
              <a:t> they will be  in St line, like (OC, OD)= 0  and  (OC, OD and OE ) =  180)}</a:t>
            </a:r>
            <a:br>
              <a:rPr lang="en-US" sz="1200" i="1" dirty="0"/>
            </a:br>
            <a:r>
              <a:rPr lang="en-US" sz="1200" b="1" i="1" dirty="0"/>
              <a:t>5</a:t>
            </a:r>
            <a:r>
              <a:rPr lang="en-US" sz="1200" b="1" i="1" baseline="30000" dirty="0"/>
              <a:t>th</a:t>
            </a:r>
            <a:r>
              <a:rPr lang="en-US" sz="1200" b="1" i="1" dirty="0"/>
              <a:t> Step :   </a:t>
            </a:r>
            <a:r>
              <a:rPr lang="en-US" sz="1200" i="1" dirty="0"/>
              <a:t>We will compare the avg cosines for Player 1 and Player 2.</a:t>
            </a:r>
            <a:br>
              <a:rPr lang="en-US" sz="1200" i="1" dirty="0"/>
            </a:br>
            <a:r>
              <a:rPr lang="en-US" sz="1200" b="1" i="1" dirty="0"/>
              <a:t>6</a:t>
            </a:r>
            <a:r>
              <a:rPr lang="en-US" sz="1200" b="1" i="1" baseline="30000" dirty="0"/>
              <a:t>th</a:t>
            </a:r>
            <a:r>
              <a:rPr lang="en-US" sz="1200" b="1" i="1" dirty="0"/>
              <a:t> Step :   </a:t>
            </a:r>
            <a:r>
              <a:rPr lang="en-US" sz="1200" i="1" dirty="0"/>
              <a:t>Winner = Player with less the Avg cosines angle ( Player Moves are less scattered in Graph )</a:t>
            </a:r>
            <a:endParaRPr lang="en-US" i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CE7F92-F2E7-CFFD-1579-D825EE7876F9}"/>
              </a:ext>
            </a:extLst>
          </p:cNvPr>
          <p:cNvGrpSpPr/>
          <p:nvPr/>
        </p:nvGrpSpPr>
        <p:grpSpPr>
          <a:xfrm>
            <a:off x="7526776" y="3868768"/>
            <a:ext cx="2405316" cy="1951420"/>
            <a:chOff x="4936938" y="3966780"/>
            <a:chExt cx="3445844" cy="269632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BD2978A-68EF-4BDB-7269-5B8A5ECFC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7" r="6347"/>
            <a:stretch>
              <a:fillRect/>
            </a:stretch>
          </p:blipFill>
          <p:spPr>
            <a:xfrm>
              <a:off x="4936938" y="3966780"/>
              <a:ext cx="3445844" cy="26963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70F66C-CF26-5CAB-16DF-DA49E243FE36}"/>
                </a:ext>
              </a:extLst>
            </p:cNvPr>
            <p:cNvSpPr txBox="1"/>
            <p:nvPr/>
          </p:nvSpPr>
          <p:spPr>
            <a:xfrm>
              <a:off x="7915706" y="5168774"/>
              <a:ext cx="4523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 X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CD61F76-F74A-1976-FEA4-7749A5F7C48C}"/>
              </a:ext>
            </a:extLst>
          </p:cNvPr>
          <p:cNvSpPr txBox="1"/>
          <p:nvPr/>
        </p:nvSpPr>
        <p:spPr>
          <a:xfrm>
            <a:off x="52934" y="3528007"/>
            <a:ext cx="73176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In this mode, the player moves are plotted in the Graph </a:t>
            </a:r>
            <a:br>
              <a:rPr lang="en-US" b="1" i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as different points ( A,B,C,D,E  ) as shown in the Upper Figure.</a:t>
            </a:r>
            <a:br>
              <a:rPr lang="en-US" b="1" i="1" dirty="0">
                <a:solidFill>
                  <a:schemeClr val="accent5">
                    <a:lumMod val="50000"/>
                  </a:schemeClr>
                </a:solidFill>
              </a:rPr>
            </a:b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12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4234D5-3C7E-4AFB-B911-3FD43DDCB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094" y="-36079"/>
            <a:ext cx="4448579" cy="779348"/>
          </a:xfrm>
          <a:scene3d>
            <a:camera prst="perspectiveLeft"/>
            <a:lightRig rig="threePt" dir="t"/>
          </a:scene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Theoretical  Math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BAC0DF-6942-538D-AC41-937C6080B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" b="3372"/>
          <a:stretch>
            <a:fillRect/>
          </a:stretch>
        </p:blipFill>
        <p:spPr>
          <a:xfrm>
            <a:off x="170597" y="490888"/>
            <a:ext cx="5566060" cy="6228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E7E285-FC24-0B8E-6B9F-8330320EB925}"/>
              </a:ext>
            </a:extLst>
          </p:cNvPr>
          <p:cNvSpPr txBox="1">
            <a:spLocks/>
          </p:cNvSpPr>
          <p:nvPr/>
        </p:nvSpPr>
        <p:spPr>
          <a:xfrm>
            <a:off x="6040476" y="-47309"/>
            <a:ext cx="4664469" cy="790578"/>
          </a:xfrm>
          <a:prstGeom prst="rect">
            <a:avLst/>
          </a:prstGeom>
          <a:scene3d>
            <a:camera prst="perspectiveLeft"/>
            <a:lightRig rig="threePt" dir="t"/>
          </a:scene3d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 Numerical   Math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DDAAA-A99A-7CB7-159A-A7FEB0078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" b="2258"/>
          <a:stretch>
            <a:fillRect/>
          </a:stretch>
        </p:blipFill>
        <p:spPr>
          <a:xfrm>
            <a:off x="6455345" y="490887"/>
            <a:ext cx="5566058" cy="6228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299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AF3BD-7FE6-B352-BBD2-AE5DDBED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66" y="682623"/>
            <a:ext cx="10515600" cy="5584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What I did Best :</a:t>
            </a:r>
          </a:p>
          <a:p>
            <a:pPr marL="0" indent="0">
              <a:buNone/>
            </a:pPr>
            <a:br>
              <a:rPr lang="en-US" sz="1800" b="1" i="1" dirty="0">
                <a:solidFill>
                  <a:srgbClr val="FF0000"/>
                </a:solidFill>
                <a:latin typeface="Calisto MT" panose="02040603050505030304" pitchFamily="18" charset="0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 Proper usages of academical concepts like </a:t>
            </a:r>
            <a:r>
              <a:rPr lang="en-US" sz="1400" b="1" i="1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Vectors, Co-ordinate Geometry </a:t>
            </a: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 User desired (Scalable) grid size of Game from 3 * 3 to  till  </a:t>
            </a:r>
            <a:r>
              <a:rPr lang="en-US" sz="1400" b="1" i="1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 * N </a:t>
            </a: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Generates all possible Winning Conditions automatically instead of generating Manually ( </a:t>
            </a:r>
            <a:r>
              <a:rPr lang="en-US" sz="1400" b="1" i="1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Hard Coding </a:t>
            </a: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).</a:t>
            </a: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With “ </a:t>
            </a:r>
            <a:r>
              <a:rPr lang="en-US" sz="1400" b="1" i="1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Tie – Break  mode</a:t>
            </a: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”  for mathematically deciding the winner , even when the games became ties .</a:t>
            </a: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S</a:t>
            </a:r>
            <a:r>
              <a:rPr lang="en-US" sz="1400" b="1" i="1" dirty="0">
                <a:latin typeface="Arial Narrow" panose="020B0606020202030204" pitchFamily="34" charset="0"/>
              </a:rPr>
              <a:t>tructured programming Codes using Object ―Oriented Programming (OOP) .</a:t>
            </a:r>
            <a:br>
              <a:rPr lang="en-US" sz="1800" b="1" i="1" dirty="0">
                <a:latin typeface="Calisto MT" panose="02040603050505030304" pitchFamily="18" charset="0"/>
                <a:cs typeface="Aparajita" panose="01010601010101010101" pitchFamily="2"/>
              </a:rPr>
            </a:br>
            <a:br>
              <a:rPr lang="en-US" sz="1800" b="1" i="1" dirty="0">
                <a:latin typeface="Calisto MT" panose="02040603050505030304" pitchFamily="18" charset="0"/>
                <a:cs typeface="Aparajita" panose="01010601010101010101" pitchFamily="2"/>
              </a:rPr>
            </a:br>
            <a:endParaRPr lang="en-US" sz="1800" b="1" i="1" dirty="0">
              <a:latin typeface="Calisto MT" panose="02040603050505030304" pitchFamily="18" charset="0"/>
              <a:cs typeface="Aparajita" panose="01010601010101010101" pitchFamily="2"/>
            </a:endParaRPr>
          </a:p>
          <a:p>
            <a:pPr marL="0" indent="0">
              <a:buNone/>
            </a:pPr>
            <a:br>
              <a:rPr lang="en-US" sz="1800" b="1" i="1" dirty="0">
                <a:latin typeface="Calisto MT" panose="02040603050505030304" pitchFamily="18" charset="0"/>
                <a:cs typeface="Aparajita" panose="01010601010101010101" pitchFamily="2"/>
              </a:rPr>
            </a:br>
            <a:r>
              <a:rPr lang="en-US" b="1" i="1" dirty="0">
                <a:solidFill>
                  <a:srgbClr val="FF0000"/>
                </a:solidFill>
                <a:latin typeface="Calisto MT" panose="02040603050505030304" pitchFamily="18" charset="0"/>
                <a:cs typeface="Aparajita" panose="01010601010101010101" pitchFamily="2"/>
              </a:rPr>
              <a:t>Future Improvements :</a:t>
            </a:r>
            <a:br>
              <a:rPr lang="en-US" b="1" i="1" dirty="0">
                <a:solidFill>
                  <a:srgbClr val="FF0000"/>
                </a:solidFill>
                <a:latin typeface="Calisto MT" panose="02040603050505030304" pitchFamily="18" charset="0"/>
                <a:cs typeface="Aparajita" panose="01010601010101010101" pitchFamily="2"/>
              </a:rPr>
            </a:br>
            <a:br>
              <a:rPr lang="en-US" b="1" i="1" dirty="0">
                <a:solidFill>
                  <a:srgbClr val="FF0000"/>
                </a:solidFill>
                <a:latin typeface="Calisto MT" panose="02040603050505030304" pitchFamily="18" charset="0"/>
                <a:cs typeface="Aparajita" panose="01010601010101010101" pitchFamily="2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</a:t>
            </a:r>
            <a:r>
              <a:rPr lang="en-US" sz="1400" b="1" i="1" dirty="0">
                <a:latin typeface="Arial Narrow" panose="020B0606020202030204" pitchFamily="34" charset="0"/>
              </a:rPr>
              <a:t>Integration with a full Graphical UI / UX for improved visual interaction .</a:t>
            </a:r>
            <a:br>
              <a:rPr lang="en-US" sz="1400" b="1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sz="1400" b="1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400" b="1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</a:t>
            </a: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Integration of  a automated player ( like AI ) to enable a single – user mode .</a:t>
            </a:r>
            <a:br>
              <a:rPr lang="en-US" sz="1400" b="1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sz="1400" b="1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• More precise mathematical analysis through </a:t>
            </a:r>
            <a:r>
              <a:rPr lang="en-US" sz="1400" b="1" i="1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Linear Regression </a:t>
            </a:r>
            <a:r>
              <a:rPr lang="en-US" sz="1400" b="1" i="1" dirty="0">
                <a:latin typeface="Arial Narrow" panose="020B060602020203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en-US" sz="1800" b="1" i="1" dirty="0">
              <a:solidFill>
                <a:srgbClr val="FF0000"/>
              </a:solidFill>
              <a:latin typeface="Arial Narrow" panose="020B060602020203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747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1BBBD-159C-ECB3-CFF7-BC1ADC57EA97}"/>
              </a:ext>
            </a:extLst>
          </p:cNvPr>
          <p:cNvSpPr txBox="1"/>
          <p:nvPr/>
        </p:nvSpPr>
        <p:spPr>
          <a:xfrm>
            <a:off x="623230" y="1202785"/>
            <a:ext cx="948329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 </a:t>
            </a:r>
            <a:r>
              <a:rPr lang="en-US" sz="4800" b="1" i="1" dirty="0">
                <a:solidFill>
                  <a:srgbClr val="FF0000"/>
                </a:solidFill>
              </a:rPr>
              <a:t>Thanks for watching…..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i="1" dirty="0"/>
              <a:t>Your  Sincere Student </a:t>
            </a:r>
            <a:br>
              <a:rPr lang="en-US" i="1" dirty="0"/>
            </a:br>
            <a:r>
              <a:rPr lang="en-US" b="1" i="1" dirty="0"/>
              <a:t>RAI  SURAJ</a:t>
            </a:r>
            <a:br>
              <a:rPr lang="en-US" b="1" i="1" dirty="0"/>
            </a:br>
            <a:r>
              <a:rPr lang="en-US" b="1" i="1" dirty="0"/>
              <a:t>ID : 20244098</a:t>
            </a:r>
          </a:p>
        </p:txBody>
      </p:sp>
    </p:spTree>
    <p:extLst>
      <p:ext uri="{BB962C8B-B14F-4D97-AF65-F5344CB8AC3E}">
        <p14:creationId xmlns:p14="http://schemas.microsoft.com/office/powerpoint/2010/main" val="314396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1063</Words>
  <Application>Microsoft Office PowerPoint</Application>
  <PresentationFormat>Widescreen</PresentationFormat>
  <Paragraphs>76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Narrow</vt:lpstr>
      <vt:lpstr>Calibri</vt:lpstr>
      <vt:lpstr>Calibri Light</vt:lpstr>
      <vt:lpstr>Calisto MT</vt:lpstr>
      <vt:lpstr>Cambria</vt:lpstr>
      <vt:lpstr>Cambria Math</vt:lpstr>
      <vt:lpstr>Office Theme</vt:lpstr>
      <vt:lpstr>Group 1 : Nerdy_Boy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Rayee</dc:creator>
  <cp:lastModifiedBy>Suraj Rayee</cp:lastModifiedBy>
  <cp:revision>39</cp:revision>
  <dcterms:created xsi:type="dcterms:W3CDTF">2025-11-14T13:56:40Z</dcterms:created>
  <dcterms:modified xsi:type="dcterms:W3CDTF">2026-01-18T14:53:04Z</dcterms:modified>
</cp:coreProperties>
</file>